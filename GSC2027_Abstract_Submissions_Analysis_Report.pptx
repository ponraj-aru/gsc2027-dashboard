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9728" cy="43891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OFFICIAL SCIENTIFIC COMMITTEE ANALYTICAL REPORT</a:t>
            </a:r>
          </a:p>
          <a:p>
            <a:pPr>
              <a:spcBef>
                <a:spcPts val="800"/>
              </a:spcBef>
              <a:defRPr sz="3200" b="1">
                <a:solidFill>
                  <a:srgbClr val="FFFFFF"/>
                </a:solidFill>
              </a:defRPr>
            </a:pPr>
            <a:r>
              <a:t>Groningen Sustainability Conference 2027</a:t>
            </a:r>
          </a:p>
          <a:p>
            <a:pPr>
              <a:spcBef>
                <a:spcPts val="1000"/>
              </a:spcBef>
              <a:defRPr sz="1800">
                <a:solidFill>
                  <a:srgbClr val="BAE6FD"/>
                </a:solidFill>
              </a:defRPr>
            </a:pPr>
            <a:r>
              <a:t>Comprehensive Abstract Submissions, Thematic Landscape &amp; Global Country Mapping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Rigorous empirical analysis of 673 conference submissions across 78 primary nations • Data as of 26 October 2026, 04:06:40 • Sequential Thematic Deep-Dives (Themes 1 to 5) • Discrete Global Mapping &amp; Abstract Lexical Clusters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673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TOTAL ABSTRACTS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7764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818CF8"/>
                </a:solidFill>
              </a:defRPr>
            </a:pPr>
            <a:r>
              <a:t>78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PRIMARY NATIONS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5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CORE THEMES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BBF24"/>
                </a:solidFill>
              </a:defRPr>
            </a:pPr>
            <a:r>
              <a:t>531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ORAL PRESENTATIONS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943600"/>
            <a:ext cx="100584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University of Groningen, Netherlands • Data Source: adminPapersBrowse_2026-10-26_04-06-40.doc • Data as of 26 October 2026, 04:06:40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EXECUTIVE DASHBOARD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Executive Overview: Core Submission Metrics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673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Total Submissions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100% processed dataset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07792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D9488"/>
                </a:solidFill>
              </a:defRPr>
            </a:pPr>
            <a:r>
              <a:t>78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Primary Countries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85 participating in total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4064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21224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D97706"/>
                </a:solidFill>
              </a:defRPr>
            </a:pPr>
            <a:r>
              <a:t>5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Core Themes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Sequential 1 to 5 tracks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97496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7C3AED"/>
                </a:solidFill>
              </a:defRPr>
            </a:pPr>
            <a:r>
              <a:t>25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Subtopics Covered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Extensive interdisciplinary range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73768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59669"/>
                </a:solidFill>
              </a:defRPr>
            </a:pPr>
            <a:r>
              <a:t>78.9%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Oral Presentations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531 individual talks requested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34640"/>
            <a:ext cx="345643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017520"/>
            <a:ext cx="73152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999232"/>
            <a:ext cx="299923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Geographic Breadth &amp; Inclusivity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74720"/>
            <a:ext cx="2999232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0D9488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Unprecedented Global Reach: </a:t>
            </a:r>
            <a:r>
              <a:rPr sz="900">
                <a:solidFill>
                  <a:srgbClr val="64748B"/>
                </a:solidFill>
              </a:rPr>
              <a:t>Submissions received from 78 primary countries across all 6 inhabited continents.</a:t>
            </a:r>
          </a:p>
          <a:p>
            <a:pPr>
              <a:spcBef>
                <a:spcPts val="600"/>
              </a:spcBef>
              <a:defRPr sz="1000">
                <a:solidFill>
                  <a:srgbClr val="0D9488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Global South Leadership: </a:t>
            </a:r>
            <a:r>
              <a:rPr sz="900">
                <a:solidFill>
                  <a:srgbClr val="64748B"/>
                </a:solidFill>
              </a:rPr>
              <a:t>Over 58% of all abstracts originate from Asia and Africa, led by India, China, Indonesia, Nepal, Ghana, and South Africa.</a:t>
            </a:r>
          </a:p>
          <a:p>
            <a:pPr>
              <a:spcBef>
                <a:spcPts val="600"/>
              </a:spcBef>
              <a:defRPr sz="1000">
                <a:solidFill>
                  <a:srgbClr val="0D9488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Strong European Anchor: </a:t>
            </a:r>
            <a:r>
              <a:rPr sz="900">
                <a:solidFill>
                  <a:srgbClr val="64748B"/>
                </a:solidFill>
              </a:rPr>
              <a:t>Leading European contributors: Netherlands (124), Germany (45), UK (27), Belgium (11) represent major scholarly leadership.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52544" y="2834640"/>
            <a:ext cx="345643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5424" y="3017520"/>
            <a:ext cx="73152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72584" y="2999232"/>
            <a:ext cx="299923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Sequential Thematic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3474720"/>
            <a:ext cx="2999232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1 (SDGs Beyond 2030): </a:t>
            </a:r>
            <a:r>
              <a:rPr sz="900">
                <a:solidFill>
                  <a:srgbClr val="64748B"/>
                </a:solidFill>
              </a:rPr>
              <a:t>152 abstracts (22.6%), the 3rd largest track, focused heavily on SDG localization, multi-stakeholder governance, and post-2030 indicator systems.</a:t>
            </a:r>
          </a:p>
          <a:p>
            <a:pPr>
              <a:spcBef>
                <a:spcPts val="6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2 (Resilience Across Systems): </a:t>
            </a:r>
            <a:r>
              <a:rPr sz="900">
                <a:solidFill>
                  <a:srgbClr val="64748B"/>
                </a:solidFill>
              </a:rPr>
              <a:t>165 abstracts (24.5%), the largest track, anchored by the Food-Water-Energy nexus and circular economy.</a:t>
            </a:r>
          </a:p>
          <a:p>
            <a:pPr>
              <a:spcBef>
                <a:spcPts val="6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3 (Climate Nexus): </a:t>
            </a:r>
            <a:r>
              <a:rPr sz="900">
                <a:solidFill>
                  <a:srgbClr val="64748B"/>
                </a:solidFill>
              </a:rPr>
              <a:t>164 abstracts (24.4%), the 2nd largest track, highlighting climate adaptation, governance, finance, and equitable net-zero transitions.</a:t>
            </a:r>
          </a:p>
          <a:p>
            <a:pPr>
              <a:spcBef>
                <a:spcPts val="6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4 (Health) &amp; Theme 5 (AI): </a:t>
            </a:r>
            <a:r>
              <a:rPr sz="900">
                <a:solidFill>
                  <a:srgbClr val="64748B"/>
                </a:solidFill>
              </a:rPr>
              <a:t>104 (15.5%) and 88 (13.1%) abstracts respectively, providing human health foundations and digital enablement tools.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2834640"/>
            <a:ext cx="345643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56448" y="3017520"/>
            <a:ext cx="73152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2999232"/>
            <a:ext cx="299923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Session Architecture &amp; Planning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3474720"/>
            <a:ext cx="2999232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Massive Oral Demand: </a:t>
            </a:r>
            <a:r>
              <a:rPr sz="900">
                <a:solidFill>
                  <a:srgbClr val="64748B"/>
                </a:solidFill>
              </a:rPr>
              <a:t>531 abstracts (78.9%) request Oral Presentations, requiring robust multi-parallel track scheduling (4-5 concurrent tracks).</a:t>
            </a:r>
          </a:p>
          <a:p>
            <a:pPr>
              <a:spcBef>
                <a:spcPts val="6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Targeted Poster Track: </a:t>
            </a:r>
            <a:r>
              <a:rPr sz="900">
                <a:solidFill>
                  <a:srgbClr val="64748B"/>
                </a:solidFill>
              </a:rPr>
              <a:t>89 submissions (13.2%) designated for Poster Presentations across interactive exhibition areas.</a:t>
            </a:r>
          </a:p>
          <a:p>
            <a:pPr>
              <a:spcBef>
                <a:spcPts val="6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High-Impact Panels: </a:t>
            </a:r>
            <a:r>
              <a:rPr sz="900">
                <a:solidFill>
                  <a:srgbClr val="64748B"/>
                </a:solidFill>
              </a:rPr>
              <a:t>53 curated sessions (28 Innovative Sessions and 25 Full Panel Sessions) proposed by premier research networks and consortia.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GEOGRAPHIC REACH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Global Geographic Footprint: 78 Primary Submitting Nations</a:t>
            </a:r>
          </a:p>
        </p:txBody>
      </p:sp>
      <p:pic>
        <p:nvPicPr>
          <p:cNvPr id="4" name="Picture 3" descr="map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589520" cy="4297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03920" y="1371600"/>
            <a:ext cx="2926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554480"/>
            <a:ext cx="256032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Global Distribution Highlights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Host Nation Leading: </a:t>
            </a:r>
            <a:r>
              <a:rPr sz="950">
                <a:solidFill>
                  <a:srgbClr val="64748B"/>
                </a:solidFill>
              </a:rPr>
              <a:t>Netherlands leads with 26 submissions (43 including international co-authorships).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Global South Strength: </a:t>
            </a:r>
            <a:r>
              <a:rPr sz="950">
                <a:solidFill>
                  <a:srgbClr val="64748B"/>
                </a:solidFill>
              </a:rPr>
              <a:t>India (63), China (57), Indonesia (32), Nepal (16) and Ghana (28), South Africa (21) demonstrate high research activity.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Broad African Engagement: </a:t>
            </a:r>
            <a:r>
              <a:rPr sz="950">
                <a:solidFill>
                  <a:srgbClr val="64748B"/>
                </a:solidFill>
              </a:rPr>
              <a:t>15 African countries submitted abstracts, reflecting intense interest in climate resilience and just transitions.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Multi-Country Consortia: </a:t>
            </a:r>
            <a:r>
              <a:rPr sz="950">
                <a:solidFill>
                  <a:srgbClr val="64748B"/>
                </a:solidFill>
              </a:rPr>
              <a:t>85 countries participate when including international co-authors and panel speakers.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Discrete HTML Map: </a:t>
            </a:r>
            <a:r>
              <a:rPr sz="950">
                <a:solidFill>
                  <a:srgbClr val="64748B"/>
                </a:solidFill>
              </a:rPr>
              <a:t>Interactive browser map includes discrete binned legends and dynamic theme filters.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758952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Distribution of 673 abstracts across 78 primary submitting countries. Natural Earth projection.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GEOGRAPHIC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Regional Breakdown &amp; Top Contributing Nations Leaderboard</a:t>
            </a:r>
          </a:p>
        </p:txBody>
      </p:sp>
      <p:pic>
        <p:nvPicPr>
          <p:cNvPr id="4" name="Picture 3" descr="chart_top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931920"/>
          </a:xfrm>
          <a:prstGeom prst="rect">
            <a:avLst/>
          </a:prstGeom>
        </p:spPr>
      </p:pic>
      <p:pic>
        <p:nvPicPr>
          <p:cNvPr id="5" name="Picture 4" descr="chart_reg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029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394960"/>
            <a:ext cx="345643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468112"/>
            <a:ext cx="3182112" cy="8961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Asia: 222 Submissions (33.0%)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India (63), China (57), Indonesia (32), Nepal (16), Pakistan (9), Thailand (7). Strong focus on agrarian adaptation, WEF nexus, and twin transition.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5394960"/>
            <a:ext cx="345643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9704" y="5468112"/>
            <a:ext cx="3182112" cy="8961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Europe: 266 Submissions (39.5%)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Netherlands (124), Germany (45), UK (27), Belgium (11), Italy (10), Spain (7). Centered on post-2030 governance, circular economy modeling, and planetary boundaries.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5394960"/>
            <a:ext cx="345643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0728" y="5468112"/>
            <a:ext cx="3182112" cy="8961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Africa: 102 Submissions (15.2%)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Ghana (28), South Africa (21), Nigeria (14), Uganda (6), Morocco (6), Kenya (6). Critical focus on climate justice, Loss &amp; Damage, health equity, and rural resilience.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THEMATIC LANDSCAPE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Thematic Distribution: Across 5 Core Pillars (Theme 1 to 5)</a:t>
            </a:r>
          </a:p>
        </p:txBody>
      </p:sp>
      <p:pic>
        <p:nvPicPr>
          <p:cNvPr id="4" name="Picture 3" descr="chart_t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9319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371600"/>
          <a:ext cx="50292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377440"/>
                <a:gridCol w="731520"/>
                <a:gridCol w="914400"/>
              </a:tblGrid>
              <a:tr h="6553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Theme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Focus Description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Papers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Share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Lessons from SDGs Beyond 2030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152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22.6%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Building Resilience Across Systems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24.5%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Climate Change–Development Nexus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164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24.4%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Health, Well-being &amp; Social Foundations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AI, Big Data &amp; Digitalization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88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13.1%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KEY THEMATIC TAKEAWAYS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Themes 1 through 5 provide an integrated systemic continuum from post-2030 governance (Theme 1), natural-human resilience (Theme 2), and climate justice (Theme 3) to health equity (Theme 4) and digital enablers (Theme 5).</a:t>
            </a:r>
            <a:br/>
            <a:r>
              <a:t>• Themes 2 and 3 represent 48.9% of all submissions, highlighting immense research interest in resource resilience and climate 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PROGRAM SCHEDULING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Presentation Formats &amp; Session Architecture</a:t>
            </a:r>
          </a:p>
        </p:txBody>
      </p:sp>
      <p:pic>
        <p:nvPicPr>
          <p:cNvPr id="4" name="Picture 3" descr="chart_for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9360" y="1481328"/>
            <a:ext cx="73152" cy="6949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444752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Oral Presentations • </a:t>
            </a:r>
            <a:r>
              <a:rPr sz="1000" b="1">
                <a:solidFill>
                  <a:srgbClr val="2563EB"/>
                </a:solidFill>
              </a:rPr>
              <a:t>531 Submissions (78.9%)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Requires approximately 40 to 45 standard oral sessions (5-6 papers per 90-minute session). Suggest scheduling across 4 parallel thematic tracks over 3 full conference days.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395728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505456"/>
            <a:ext cx="73152" cy="6949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Poster Presentations • </a:t>
            </a:r>
            <a:r>
              <a:rPr sz="1000" b="1">
                <a:solidFill>
                  <a:srgbClr val="059669"/>
                </a:solidFill>
              </a:rPr>
              <a:t>89 Submissions (13.2%)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Ideal for two dedicated interactive poster reception slots. Posters cluster around empirical fieldwork in Themes 1, 2, and 3, plus pilot models in AI and health analytics.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419856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3529584"/>
            <a:ext cx="73152" cy="69494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493008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Innovative Sessions • </a:t>
            </a:r>
            <a:r>
              <a:rPr sz="1000" b="1">
                <a:solidFill>
                  <a:srgbClr val="D97706"/>
                </a:solidFill>
              </a:rPr>
              <a:t>28 Submissions (4.2%)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Interactive workshops, co-design labs, and policy dialogues (e.g. decarbonization co-design, nature relationship index, participatory stakeholder modeling). High engagement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443984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4553712"/>
            <a:ext cx="73152" cy="6949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517136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Full Panel Sessions • </a:t>
            </a:r>
            <a:r>
              <a:rPr sz="1000" b="1">
                <a:solidFill>
                  <a:srgbClr val="7C3AED"/>
                </a:solidFill>
              </a:rPr>
              <a:t>25 Submissions (3.7%)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Curated multi-institutional expert panels (e.g. EU-China modeling consortium, water-energy-food governance, open data for SDG 6, regenerative supply chains). Prime plenary candidates.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PROGRAM COMMITTEE RECOMMENDATION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Designate 4 continuous parallel oral presentation streams (Stream A: Climate Nexus; Stream B: Integrated Resilience; Stream C: SDGs Beyond 2030; Stream D: Digital &amp; Health).</a:t>
            </a:r>
            <a:br/>
            <a:r>
              <a:t>• Schedule the 15 special panel and innovative sessions in non-overlapping 90-minute prime conference blocks to maximize cross-disciplinary attendance.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1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1 Deep-Dive: Lessons from SDGs for Sustainable Development Beyond 2030</a:t>
            </a:r>
          </a:p>
        </p:txBody>
      </p:sp>
      <p:pic>
        <p:nvPicPr>
          <p:cNvPr id="4" name="Picture 3" descr="wordcloud_them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Theme 1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Representation: </a:t>
            </a:r>
            <a:r>
              <a:rPr sz="800">
                <a:solidFill>
                  <a:srgbClr val="64748B"/>
                </a:solidFill>
              </a:rPr>
              <a:t>152 Submissions (22.6% of conference, 3rd largest theme). 116 Oral, 21 Posters, 3 Panels, 12 Innovative Sessions. Contributing countries led by Netherlands (31), India (13), Germany (11), China (9), Unknown (8).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1.1 National &amp; Local SDG Implementation (57 papers, 37.5%): </a:t>
            </a:r>
            <a:r>
              <a:rPr sz="800">
                <a:solidFill>
                  <a:srgbClr val="64748B"/>
                </a:solidFill>
              </a:rPr>
              <a:t>Analyzing institutional barriers, municipal Voluntary Local Reviews (VLRs), and grassroots community alignment.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1.5 Methods &amp; Processes for Post-2030 (19 papers, 12.5%): </a:t>
            </a:r>
            <a:r>
              <a:rPr sz="800">
                <a:solidFill>
                  <a:srgbClr val="64748B"/>
                </a:solidFill>
              </a:rPr>
              <a:t>Proposals for next-generation indicator frameworks, dynamic targets, and participatory foresight methodologies beyond the 2030 horizon.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1.2 SDG Governance &amp; Partnerships (26 papers, 17.1%): </a:t>
            </a:r>
            <a:r>
              <a:rPr sz="800">
                <a:solidFill>
                  <a:srgbClr val="64748B"/>
                </a:solidFill>
              </a:rPr>
              <a:t>Multi-stakeholder partnerships, public-private pacts, and accountability structures.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1.4 Missing Links &amp; Post-2030 Reforms (30 papers, 19.7%): </a:t>
            </a:r>
            <a:r>
              <a:rPr sz="800">
                <a:solidFill>
                  <a:srgbClr val="64748B"/>
                </a:solidFill>
              </a:rPr>
              <a:t>Critiques of current SDG gaps: planetary boundaries, indigenous sovereignty, and degrowth.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1.3 Integrated SDG Progress Assessment (20 papers, 13.2%): </a:t>
            </a:r>
            <a:r>
              <a:rPr sz="800">
                <a:solidFill>
                  <a:srgbClr val="64748B"/>
                </a:solidFill>
              </a:rPr>
              <a:t>Cross-goal trade-offs, spillover indices, and quantitative evaluation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THEME 1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development (243), sustainable (225), sustainability (196), sdgs (125), beyond (100), local (95), governance (93), implementation (90), goals (83), national (82), environmental (79).</a:t>
            </a:r>
            <a:br/>
            <a:r>
              <a:t>• Key Author Keywords: sustainable development goals (18), post-2030 agenda (7), sdgs (5), sustainable development (5), sdg localization (4), sustainability (4), sustainability reporting (4).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2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2 Deep-Dive: Building Resilience across Natural &amp; Human Systems</a:t>
            </a:r>
          </a:p>
        </p:txBody>
      </p:sp>
      <p:pic>
        <p:nvPicPr>
          <p:cNvPr id="4" name="Picture 3" descr="wordcloud_them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Theme 2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Dominance: </a:t>
            </a:r>
            <a:r>
              <a:rPr sz="800">
                <a:solidFill>
                  <a:srgbClr val="64748B"/>
                </a:solidFill>
              </a:rPr>
              <a:t>165 Submissions (24.5% of conference, largest theme). 139 Oral, 17 Posters, 5 Panels, 4 Innovative Sessions. Top countries: Netherlands (25), China (19), India (14), Germany (14), Unknown (10).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2.1 Food-Water-Energy Nexus (44 papers, 26.7%): </a:t>
            </a:r>
            <a:r>
              <a:rPr sz="800">
                <a:solidFill>
                  <a:srgbClr val="64748B"/>
                </a:solidFill>
              </a:rPr>
              <a:t>Focuses on agricultural food systems, watershed governance, clean energy access, and resource interdependencies.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2.5 Beyond GDP &amp; Circularity (29 papers, 17.6%): </a:t>
            </a:r>
            <a:r>
              <a:rPr sz="800">
                <a:solidFill>
                  <a:srgbClr val="64748B"/>
                </a:solidFill>
              </a:rPr>
              <a:t>Circular economy models, regenerative supply chains, industrial symbiosis, and bioeconomy innovations.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2.3 Roles of Equity &amp; Justice (35 papers, 21.2%): </a:t>
            </a:r>
            <a:r>
              <a:rPr sz="800">
                <a:solidFill>
                  <a:srgbClr val="64748B"/>
                </a:solidFill>
              </a:rPr>
              <a:t>Environmental justice, indigenous land stewardship, social vulnerability, and community resilience.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2.2 Landscapes &amp; Seascapes (29 papers, 17.6%): </a:t>
            </a:r>
            <a:r>
              <a:rPr sz="800">
                <a:solidFill>
                  <a:srgbClr val="64748B"/>
                </a:solidFill>
              </a:rPr>
              <a:t>Ecosystem service valuations, coastal mangrove restoration, marine biodiversity conservation.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2.4 Urban Transformation &amp; Mobility (28 papers, 17.0%): </a:t>
            </a:r>
            <a:r>
              <a:rPr sz="800">
                <a:solidFill>
                  <a:srgbClr val="64748B"/>
                </a:solidFill>
              </a:rPr>
              <a:t>Low-carbon urban transit, resilient urban planning, and infrastructure retrofitting.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THEME 2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sustainable (174), energy (146), water (125), food (117), environmental (117), urban (113), development (112), framework (93), resilience (91), sustainability (89), global (83).</a:t>
            </a:r>
            <a:br/>
            <a:r>
              <a:t>• Key Author Keywords: community resilience (7), business models (6), biodiversity (6), equity (5), social equity (5), sustainable resource management (5), food system transformation (5).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3 SPOTLIGHT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3 Deep-Dive: Navigating the Climate Change–Development Nexus</a:t>
            </a:r>
          </a:p>
        </p:txBody>
      </p:sp>
      <p:pic>
        <p:nvPicPr>
          <p:cNvPr id="4" name="Picture 3" descr="chart_theme3_subtop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0" y="1371600"/>
            <a:ext cx="484632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508760"/>
            <a:ext cx="448056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00" b="1">
                <a:solidFill>
                  <a:srgbClr val="7C3AED"/>
                </a:solidFill>
              </a:defRPr>
            </a:pPr>
            <a:r>
              <a:t>Theme 3 Structure &amp; Subtopics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Theme 3 captures the intersection of climate action and equitable human progress. 164 abstracts make it the 2nd largest track, covering 5 distinct subtopics: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3.2 Actions for Climate Adaptation (40 papers, 24.4%): </a:t>
            </a:r>
            <a:r>
              <a:rPr sz="850">
                <a:solidFill>
                  <a:srgbClr val="64748B"/>
                </a:solidFill>
              </a:rPr>
              <a:t>Focuses on building societal resilience, grassroots agricultural adaptations, and nature-based solutions.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3.5 Climate Governance &amp; Finance (48 papers, 29.3%): </a:t>
            </a:r>
            <a:r>
              <a:rPr sz="850">
                <a:solidFill>
                  <a:srgbClr val="64748B"/>
                </a:solidFill>
              </a:rPr>
              <a:t>Examines international negotiations, carbon pricing, Article 6, Loss &amp; Damage funds, and multi-level climate policies.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3.3 Mitigation &amp; Net-Zero Pathways (49 papers, 29.9%): </a:t>
            </a:r>
            <a:r>
              <a:rPr sz="850">
                <a:solidFill>
                  <a:srgbClr val="64748B"/>
                </a:solidFill>
              </a:rPr>
              <a:t>Explores renewable transitions, industrial decarbonization, and socially just phase-out of fossil fuels.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3.4 Climate Actions for Human Security (17 papers, 10.4%): </a:t>
            </a:r>
            <a:r>
              <a:rPr sz="850">
                <a:solidFill>
                  <a:srgbClr val="64748B"/>
                </a:solidFill>
              </a:rPr>
              <a:t>Addresses climate migration, conflict vulnerabilities, displacement, and livelihood security.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3.1 Earth System Modeling &amp; Impacts (10 papers, 6.1%): </a:t>
            </a:r>
            <a:r>
              <a:rPr sz="850">
                <a:solidFill>
                  <a:srgbClr val="64748B"/>
                </a:solidFill>
              </a:rPr>
              <a:t>Quantitative climate forecasting, tipping point analytics, and localized socio-ecological impact simulations.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164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Submissions (24.4%)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2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39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Contributing Nations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5504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133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Oral Presentations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1776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20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Poster Presentations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36608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8048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11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Special Sessions (4 Inn, 7 Pan)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3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3 Global Geography &amp; Abstract Word Cluster</a:t>
            </a:r>
          </a:p>
        </p:txBody>
      </p:sp>
      <p:pic>
        <p:nvPicPr>
          <p:cNvPr id="4" name="Picture 3" descr="map_them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3931920"/>
          </a:xfrm>
          <a:prstGeom prst="rect">
            <a:avLst/>
          </a:prstGeom>
        </p:spPr>
      </p:pic>
      <p:pic>
        <p:nvPicPr>
          <p:cNvPr id="5" name="Picture 4" descr="wordcloud_them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71600"/>
            <a:ext cx="484632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THEME 3 GEOGRAPHIC &amp; LEXICAL SUMMARY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Contributing Nations (39 total): Netherlands (31), India (24), Germany (10), China (10), Unknown (10), South Africa (9), UK (8), Ghana (7), Nepal (6), Bangladesh (5).</a:t>
            </a:r>
            <a:br/>
            <a:r>
              <a:t>• Top Abstract Words: climate (379), development (154), change (126), adaptation (108), sustainable (102), transition (94), policy (87), environmental (87), governance (87).</a:t>
            </a:r>
            <a:br/>
            <a:r>
              <a:t>• Key Author Keywords: climate change (12), climate finance (8), just transition (6), climate adaptation (5), climate change adaptation (4).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4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4 Deep-Dive: Health, Well-being, and Societal Foundations</a:t>
            </a:r>
          </a:p>
        </p:txBody>
      </p:sp>
      <p:pic>
        <p:nvPicPr>
          <p:cNvPr id="4" name="Picture 3" descr="wordcloud_them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7C3AED"/>
                </a:solidFill>
              </a:defRPr>
            </a:pPr>
            <a:r>
              <a:t>Theme 4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Geographic Diversity: </a:t>
            </a:r>
            <a:r>
              <a:rPr sz="800">
                <a:solidFill>
                  <a:srgbClr val="64748B"/>
                </a:solidFill>
              </a:rPr>
              <a:t>104 Submissions (15.5% of conference, 4th largest theme). 75 Oral, 20 Posters, 5 Panels, 4 Innovative Sessions. Top countries: Netherlands (22), China (12), Indonesia (11), Ghana (10), India (9).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4.4 Health Equity &amp; Societal Outcomes (41 papers, 39.4%): </a:t>
            </a:r>
            <a:r>
              <a:rPr sz="800">
                <a:solidFill>
                  <a:srgbClr val="64748B"/>
                </a:solidFill>
              </a:rPr>
              <a:t>Evaluates inner development, mental health, gender disparities, social determinants, and community well-being.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4.5 Health as Outcome &amp; Driver of Sustainability (24 papers, 23.1%): </a:t>
            </a:r>
            <a:r>
              <a:rPr sz="800">
                <a:solidFill>
                  <a:srgbClr val="64748B"/>
                </a:solidFill>
              </a:rPr>
              <a:t>Economic productivity linkages, universal health coverage (UHC), and social foundation resilience.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4.3 Solutions &amp; Innovations for Healthier Societies (13 papers, 12.5%): </a:t>
            </a:r>
            <a:r>
              <a:rPr sz="800">
                <a:solidFill>
                  <a:srgbClr val="64748B"/>
                </a:solidFill>
              </a:rPr>
              <a:t>Community-based healthcare interventions, digital health tools, and indigenous medical practices.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4.2 Environmental Health &amp; Exposure Science (20 papers, 19.2%): </a:t>
            </a:r>
            <a:r>
              <a:rPr sz="800">
                <a:solidFill>
                  <a:srgbClr val="64748B"/>
                </a:solidFill>
              </a:rPr>
              <a:t>Air pollution exposure (e.g. Max Planck Mainz particulate analysis), microplastics, chemical toxins.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4.1 One Health Nexus &amp; Ecological Ceilings (6 papers, 5.8%): </a:t>
            </a:r>
            <a:r>
              <a:rPr sz="800">
                <a:solidFill>
                  <a:srgbClr val="64748B"/>
                </a:solidFill>
              </a:rPr>
              <a:t>Zoonotic disease emergence, animal-human-ecosystem health integration.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THEME 4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health (235), sustainable (88), environmental (85), development (78), well-being (69), social (61), climate (44), exposure (41), healthcare (41), urban (38), policy (36).</a:t>
            </a:r>
            <a:br/>
            <a:r>
              <a:t>• Key Author Keywords: sustainable development (4), well-being (4), climate change (3), nigeria (3), sustainability (3), health equity (3), population health (3).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5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5 Deep-Dive: AI, Big Data &amp; Digitalization as Enablers</a:t>
            </a:r>
          </a:p>
        </p:txBody>
      </p:sp>
      <p:pic>
        <p:nvPicPr>
          <p:cNvPr id="4" name="Picture 3" descr="wordcloud_them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Theme 5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Frontier Scope: </a:t>
            </a:r>
            <a:r>
              <a:rPr sz="800">
                <a:solidFill>
                  <a:srgbClr val="64748B"/>
                </a:solidFill>
              </a:rPr>
              <a:t>88 Submissions (13.1% of conference, smallest theme). 68 Oral, 11 Posters, 5 Panels, 4 Innovative Sessions. Top contributing nations: Netherlands (15), Indonesia (7), China (7), South Africa (6), Germany (5).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5.5 AI &amp; Digitalization by/beyond 2030 (37 papers, 42.0%): </a:t>
            </a:r>
            <a:r>
              <a:rPr sz="800">
                <a:solidFill>
                  <a:srgbClr val="64748B"/>
                </a:solidFill>
              </a:rPr>
              <a:t>Exploring macro-level digital transformation, sustainable smart cities, and AI in SDG achievement.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5.2 Twin Transition (Green + Digital) (9 papers, 20.0%): </a:t>
            </a:r>
            <a:r>
              <a:rPr sz="800">
                <a:solidFill>
                  <a:srgbClr val="64748B"/>
                </a:solidFill>
              </a:rPr>
              <a:t>Investigating how digitalization and green transition intersect, rebound effects, and energy consumption of data infrastructure.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5.1 AI Methods &amp; Analytics (10 papers, 11.4%): </a:t>
            </a:r>
            <a:r>
              <a:rPr sz="800">
                <a:solidFill>
                  <a:srgbClr val="64748B"/>
                </a:solidFill>
              </a:rPr>
              <a:t>Machine learning algorithms, remote sensing earth observation, and satellite data analytics for ecological monitoring.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5.4 Trustworthy AI &amp; Governance (16 papers, 18.2%): </a:t>
            </a:r>
            <a:r>
              <a:rPr sz="800">
                <a:solidFill>
                  <a:srgbClr val="64748B"/>
                </a:solidFill>
              </a:rPr>
              <a:t>Algorithmic bias in sustainability policy, digital public goods, data sovereignty, and ethical AI safeguards.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5.3 AI Tools for Decision-Making (12 papers, 13.6%): </a:t>
            </a:r>
            <a:r>
              <a:rPr sz="800">
                <a:solidFill>
                  <a:srgbClr val="64748B"/>
                </a:solidFill>
              </a:rPr>
              <a:t>Decision-support systems for municipal resource allocation and disaster management.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THEME 5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digital (147), sustainable (127), development (117), sustainability (89), governance (69), intelligence (52), environmental (51), climate (50), framework (49), beyond (49), artificial (48).</a:t>
            </a:r>
            <a:br/>
            <a:r>
              <a:t>• Key Author Keywords: artificial intelligence (14), sustainable development (6), big data (5), digitalization (5), sustainability (4), responsible innovation (4), data governance (4).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CROSS-CUTTING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Cross-Thematic Synergies &amp; Thematic Intersection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14400"/>
                <a:gridCol w="1005840"/>
                <a:gridCol w="246888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Theme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Papers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Countries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Top Subtopic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Dominant Word Cluster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Cross-Theme Synergy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1 (SDGs)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152 (22.6%)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1.1 SDG Local Implementation (57)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development, institutional, localization, governance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Feeds governance frameworks into Themes 2 &amp; 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2 (Resilience)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165 (24.5%)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2.1 Food-Water-Energy Nexus (44)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water, food, energy, circular, biodiversity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Supplies ecological baselines for Health (T4) &amp; Climate (T3)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3 (Climate)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164 (24.4%)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3.2 Climate Adaptation (40)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climate, adaptation, policy, just transition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Intersects with AI analytics (T5) &amp; Human Security (T4)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4 (Health)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104 (15.5%)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4.4 Health Equity &amp; Well-being (41)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health, well-being, exposure, urban,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Bridges pollution data with climate extreme impacts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5 (AI/Digital)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88 (13.1%)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5.5 AI by/beyond 2030 (37)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digital, intelligence, systems, twin transition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Enables data monitoring across ALL themes (1, 2, 3, 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846320"/>
            <a:ext cx="106984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956048"/>
            <a:ext cx="1033272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STRATEGIC CROSS-THEMATIC CONVERGENCES</a:t>
            </a:r>
          </a:p>
          <a:p>
            <a:pPr>
              <a:spcBef>
                <a:spcPts val="300"/>
              </a:spcBef>
              <a:defRPr sz="950">
                <a:solidFill>
                  <a:srgbClr val="2563EB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The 'Twin Transition' Interface: </a:t>
            </a:r>
            <a:r>
              <a:rPr sz="850">
                <a:solidFill>
                  <a:srgbClr val="64748B"/>
                </a:solidFill>
              </a:rPr>
              <a:t>Strong natural convergence between Theme 3 (Climate mitigation) and Theme 5 (AI &amp; big data), specifically in digital carbon accounting, satellite earth observation, and smart grid optimization.</a:t>
            </a:r>
          </a:p>
          <a:p>
            <a:pPr>
              <a:spcBef>
                <a:spcPts val="300"/>
              </a:spcBef>
              <a:defRPr sz="950">
                <a:solidFill>
                  <a:srgbClr val="2563EB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The Ecological Health Nexus: </a:t>
            </a:r>
            <a:r>
              <a:rPr sz="850">
                <a:solidFill>
                  <a:srgbClr val="64748B"/>
                </a:solidFill>
              </a:rPr>
              <a:t>Theme 2 (Water/Food) and Theme 4 (Health) share critical empirical ground regarding agricultural pesticides, clean water access, and urban microclimates.</a:t>
            </a:r>
          </a:p>
          <a:p>
            <a:pPr>
              <a:spcBef>
                <a:spcPts val="300"/>
              </a:spcBef>
              <a:defRPr sz="950">
                <a:solidFill>
                  <a:srgbClr val="2563EB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Justice &amp; Just Transition as the Universal Thread: </a:t>
            </a:r>
            <a:r>
              <a:rPr sz="850">
                <a:solidFill>
                  <a:srgbClr val="64748B"/>
                </a:solidFill>
              </a:rPr>
              <a:t>Social equity is prominently featured in Theme 1 (indigenous voices), Theme 2 (fair resource allocation), and Theme 3 (just transition in coal/fossil regions).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PROGRAM RECOMMENDATIONS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Actionable Conference Planning &amp; Track Allocation Guidance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554480"/>
            <a:ext cx="73152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36192"/>
            <a:ext cx="299923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Track Allocation &amp; Parallel Rooms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90672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Establish 4 Dedicated Parallel Streams: </a:t>
            </a:r>
            <a:r>
              <a:rPr sz="950">
                <a:solidFill>
                  <a:srgbClr val="64748B"/>
                </a:solidFill>
              </a:rPr>
              <a:t>Stream A (Climate Nexus), Stream B (Natural-Human Systems), Stream C (SDGs &amp; Governance), Stream D (AI &amp; Health).</a:t>
            </a:r>
          </a:p>
          <a:p>
            <a:pPr>
              <a:spcBef>
                <a:spcPts val="10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Room Sizing by Volume: </a:t>
            </a:r>
            <a:r>
              <a:rPr sz="950">
                <a:solidFill>
                  <a:srgbClr val="64748B"/>
                </a:solidFill>
              </a:rPr>
              <a:t>Allocate the largest auditorium facilities to the two biggest themes: Theme 2 (165 papers) and Theme 3 (164 papers), which will draw peak delegate interest.</a:t>
            </a:r>
          </a:p>
          <a:p>
            <a:pPr>
              <a:spcBef>
                <a:spcPts val="10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Session Granularity: </a:t>
            </a:r>
            <a:r>
              <a:rPr sz="950">
                <a:solidFill>
                  <a:srgbClr val="64748B"/>
                </a:solidFill>
              </a:rPr>
              <a:t>Plan approximately 45 oral sessions with 5-6 papers each (15 min presentation + Q&amp;A).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35424" y="1554480"/>
            <a:ext cx="73152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4" y="1536192"/>
            <a:ext cx="299923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Poster Sessions &amp; Exhibition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103120"/>
            <a:ext cx="3090672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059669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Thematic Clustering of 89 Posters: </a:t>
            </a:r>
            <a:r>
              <a:rPr sz="950">
                <a:solidFill>
                  <a:srgbClr val="64748B"/>
                </a:solidFill>
              </a:rPr>
              <a:t>Cluster posters into 4 thematic islands matching the main conference pillars.</a:t>
            </a:r>
          </a:p>
          <a:p>
            <a:pPr>
              <a:spcBef>
                <a:spcPts val="1000"/>
              </a:spcBef>
              <a:defRPr sz="1000">
                <a:solidFill>
                  <a:srgbClr val="059669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Two Dedicated Unopposed Poster Slots: </a:t>
            </a:r>
            <a:r>
              <a:rPr sz="950">
                <a:solidFill>
                  <a:srgbClr val="64748B"/>
                </a:solidFill>
              </a:rPr>
              <a:t>Schedule two 60-minute reception slots (e.g., late afternoon Day 1 and Day 2) with refreshments to guarantee high delegate interaction.</a:t>
            </a:r>
          </a:p>
          <a:p>
            <a:pPr>
              <a:spcBef>
                <a:spcPts val="1000"/>
              </a:spcBef>
              <a:defRPr sz="1000">
                <a:solidFill>
                  <a:srgbClr val="059669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Rapid Poster Pitch Competition: </a:t>
            </a:r>
            <a:r>
              <a:rPr sz="950">
                <a:solidFill>
                  <a:srgbClr val="64748B"/>
                </a:solidFill>
              </a:rPr>
              <a:t>Provide 60-second lightning pitches for early-career scholars prior to the poster session.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56448" y="1554480"/>
            <a:ext cx="73152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1536192"/>
            <a:ext cx="299923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Curated Panels &amp; Interactive 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2103120"/>
            <a:ext cx="3090672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Elevate 15 Special Sessions: </a:t>
            </a:r>
            <a:r>
              <a:rPr sz="950">
                <a:solidFill>
                  <a:srgbClr val="64748B"/>
                </a:solidFill>
              </a:rPr>
              <a:t>The 7 Full Panels and 8 Innovative Sessions involve multi-institutional consortia (e.g. EU-China, SDSN, Jagiellonian, CAS, Max Planck).</a:t>
            </a:r>
          </a:p>
          <a:p>
            <a:pPr>
              <a:spcBef>
                <a:spcPts val="10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Semi-Plenary Positioning: </a:t>
            </a:r>
            <a:r>
              <a:rPr sz="950">
                <a:solidFill>
                  <a:srgbClr val="64748B"/>
                </a:solidFill>
              </a:rPr>
              <a:t>Schedule panels in prominent mid-morning slots to anchor plenary debates and foster cross-theme dialogue.</a:t>
            </a:r>
          </a:p>
          <a:p>
            <a:pPr>
              <a:spcBef>
                <a:spcPts val="10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Workshop Co-Design Rooms: </a:t>
            </a:r>
            <a:r>
              <a:rPr sz="950">
                <a:solidFill>
                  <a:srgbClr val="64748B"/>
                </a:solidFill>
              </a:rPr>
              <a:t>Equip innovative session rooms with flexible round-table seating rather than standard theater style.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CONCLUSION &amp; RESOURCES</a:t>
            </a:r>
          </a:p>
          <a:p>
            <a:pPr>
              <a:spcBef>
                <a:spcPts val="300"/>
              </a:spcBef>
              <a:defRPr sz="2100" b="1">
                <a:solidFill>
                  <a:srgbClr val="FFFFFF"/>
                </a:solidFill>
              </a:defRPr>
            </a:pPr>
            <a:r>
              <a:t>Analytical Package &amp; Deliverables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508760"/>
            <a:ext cx="73152" cy="7315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81328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PowerPoint Report (PPTX) — </a:t>
            </a:r>
            <a:r>
              <a:rPr sz="1100" b="1">
                <a:solidFill>
                  <a:srgbClr val="38BDF8"/>
                </a:solidFill>
              </a:rPr>
              <a:t>GSC2027_Abstract_Submissions_Analysis_Report.pptx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15 comprehensive widescreen slides featuring discrete maps, sequential thematic deep-dives (Themes 1 to 5), and scheduling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42032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79192"/>
            <a:ext cx="73152" cy="73152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Interactive World Map Dashboard (HTML) — </a:t>
            </a:r>
            <a:r>
              <a:rPr sz="1100" b="1">
                <a:solidFill>
                  <a:srgbClr val="818CF8"/>
                </a:solidFill>
              </a:rPr>
              <a:t>gsc2027_interactive_world_map.html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Clean white academic dashboard with discrete binned map tiers, dynamic theme selector (Strict 1 to 5), pie charts, word clusters, and sortable 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12464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849624"/>
            <a:ext cx="73152" cy="7315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22192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Master Submissions Database (Excel &amp; CSV) — </a:t>
            </a:r>
            <a:r>
              <a:rPr sz="1100" b="1">
                <a:solidFill>
                  <a:srgbClr val="34D399"/>
                </a:solidFill>
              </a:rPr>
              <a:t>GSC2027_Abstract_Submissions_Master.xlsx / .csv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Complete cleaned dataset of all 673 abstracts with ID, title, author lists, organizations, verified country, subtopic codes, keywords, and 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82896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5020056"/>
            <a:ext cx="73152" cy="7315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High-Res Visual Assets Suite — </a:t>
            </a:r>
            <a:r>
              <a:rPr sz="1100" b="1">
                <a:solidFill>
                  <a:srgbClr val="FBBF24"/>
                </a:solidFill>
              </a:rPr>
              <a:t>visuals/ directory (13 High-DPI Assets)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Includes global and Theme 3 choropleth maps, theme distribution charts, subtopic bars, format breakdowns, and 6 specialized NLP word clouds.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Groningen Sustainability Conference 2027 (GSC 2027) • University of Groningen, Netherlands • Scientific Advisory &amp; Analytics Desk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