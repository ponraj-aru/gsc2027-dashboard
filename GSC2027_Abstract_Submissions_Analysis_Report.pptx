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OFFICIAL SCIENTIFIC COMMITTEE ANALYTICAL REPORT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Groningen Sustainability Conference 2027</a:t>
            </a:r>
          </a:p>
          <a:p>
            <a:pPr>
              <a:spcBef>
                <a:spcPts val="1000"/>
              </a:spcBef>
              <a:defRPr sz="1800">
                <a:solidFill>
                  <a:srgbClr val="BAE6FD"/>
                </a:solidFill>
              </a:defRPr>
            </a:pPr>
            <a:r>
              <a:t>Comprehensive Abstract Submissions, Thematic Landscape &amp; Global Country Mapping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Rigorous empirical analysis of 690 conference submissions across 78 primary nations • Data as of 27 October 2026, 04:05:02 • Sequential Thematic Deep-Dives (Themes 1 to 5) • Discrete Global Mapping &amp; Abstract Lexical Clusters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8056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690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TOTAL ABSTRACTS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429768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448056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818CF8"/>
                </a:solidFill>
              </a:defRPr>
            </a:pPr>
            <a:r>
              <a:t>78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PRIMARY 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29768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48056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5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CORE THEMES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429768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448056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</a:defRPr>
            </a:pPr>
            <a:r>
              <a:t>545</a:t>
            </a:r>
          </a:p>
          <a:p>
            <a:pPr>
              <a:spcBef>
                <a:spcPts val="200"/>
              </a:spcBef>
              <a:defRPr sz="1000" b="1">
                <a:solidFill>
                  <a:srgbClr val="94A3B8"/>
                </a:solidFill>
              </a:defRPr>
            </a:pPr>
            <a:r>
              <a:t>ORAL 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University of Groningen, Netherlands • Data Source: adminPapersBrowse_2026-10-27_04-05-02.doc • Data as of 27 October 2026, 04:05:02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EXECUTIVE DASHBOARD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Executive Overview: Core Submission Metrics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17373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690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Total Submissions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100% processed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46304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1572768"/>
            <a:ext cx="17373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D9488"/>
                </a:solidFill>
              </a:defRPr>
            </a:pPr>
            <a:r>
              <a:t>78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Primary Countries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85 participating in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46304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1572768"/>
            <a:ext cx="17373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97706"/>
                </a:solidFill>
              </a:defRPr>
            </a:pPr>
            <a:r>
              <a:t>5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Core Themes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Sequential 1 to 5 tracks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46304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572768"/>
            <a:ext cx="17373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7C3AED"/>
                </a:solidFill>
              </a:defRPr>
            </a:pPr>
            <a:r>
              <a:t>25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Subtopics Covered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Extensive interdisciplinary 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46304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572768"/>
            <a:ext cx="17373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59669"/>
                </a:solidFill>
              </a:defRPr>
            </a:pPr>
            <a:r>
              <a:t>79.0%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Oral Presentations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545 individual talks requested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345643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017520"/>
            <a:ext cx="73152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99232"/>
            <a:ext cx="299923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Geographic Breadth &amp; Inclusivity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74720"/>
            <a:ext cx="2999232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>
                <a:solidFill>
                  <a:srgbClr val="0D9488"/>
                </a:solidFill>
              </a:defRPr>
            </a:pPr>
            <a:r>
              <a:t>• </a:t>
            </a:r>
            <a:r>
              <a:rPr b="1" sz="950">
                <a:solidFill>
                  <a:srgbClr val="0F172A"/>
                </a:solidFill>
              </a:rPr>
              <a:t>Unprecedented Global Reach: </a:t>
            </a:r>
            <a:r>
              <a:rPr sz="900">
                <a:solidFill>
                  <a:srgbClr val="64748B"/>
                </a:solidFill>
              </a:rPr>
              <a:t>Submissions received from 78 primary countries across all 6 inhabited continents.</a:t>
            </a:r>
          </a:p>
          <a:p>
            <a:pPr>
              <a:spcBef>
                <a:spcPts val="600"/>
              </a:spcBef>
              <a:defRPr sz="1000">
                <a:solidFill>
                  <a:srgbClr val="0D9488"/>
                </a:solidFill>
              </a:defRPr>
            </a:pPr>
            <a:r>
              <a:t>• </a:t>
            </a:r>
            <a:r>
              <a:rPr b="1" sz="950">
                <a:solidFill>
                  <a:srgbClr val="0F172A"/>
                </a:solidFill>
              </a:rPr>
              <a:t>Global South Leadership: </a:t>
            </a:r>
            <a:r>
              <a:rPr sz="900">
                <a:solidFill>
                  <a:srgbClr val="64748B"/>
                </a:solidFill>
              </a:rPr>
              <a:t>Over 58% of all abstracts originate from Asia and Africa, led by India, China, Indonesia, Nepal, Ghana, and South Africa.</a:t>
            </a:r>
          </a:p>
          <a:p>
            <a:pPr>
              <a:spcBef>
                <a:spcPts val="600"/>
              </a:spcBef>
              <a:defRPr sz="1000">
                <a:solidFill>
                  <a:srgbClr val="0D9488"/>
                </a:solidFill>
              </a:defRPr>
            </a:pPr>
            <a:r>
              <a:t>• </a:t>
            </a:r>
            <a:r>
              <a:rPr b="1" sz="950">
                <a:solidFill>
                  <a:srgbClr val="0F172A"/>
                </a:solidFill>
              </a:rPr>
              <a:t>Strong European Anchor: </a:t>
            </a:r>
            <a:r>
              <a:rPr sz="900">
                <a:solidFill>
                  <a:srgbClr val="64748B"/>
                </a:solidFill>
              </a:rPr>
              <a:t>Leading European contributors: Netherlands (132), Germany (45), UK (27), Belgium (11) represent major scholarly leadership.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2834640"/>
            <a:ext cx="345643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35424" y="3017520"/>
            <a:ext cx="7315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2584" y="2999232"/>
            <a:ext cx="299923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Sequential Thematic 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474720"/>
            <a:ext cx="2999232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950">
                <a:solidFill>
                  <a:srgbClr val="0F172A"/>
                </a:solidFill>
              </a:rPr>
              <a:t>Theme 1 (SDGs Beyond 2030): </a:t>
            </a:r>
            <a:r>
              <a:rPr sz="900">
                <a:solidFill>
                  <a:srgbClr val="64748B"/>
                </a:solidFill>
              </a:rPr>
              <a:t>155 abstracts (22.5%), the 3rd largest track, focused heavily on SDG localization, multi-stakeholder governance, and post-2030 indicator systems.</a:t>
            </a:r>
          </a:p>
          <a:p>
            <a:pPr>
              <a:spcBef>
                <a:spcPts val="60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950">
                <a:solidFill>
                  <a:srgbClr val="0F172A"/>
                </a:solidFill>
              </a:rPr>
              <a:t>Theme 2 (Resilience Across Systems): </a:t>
            </a:r>
            <a:r>
              <a:rPr sz="900">
                <a:solidFill>
                  <a:srgbClr val="64748B"/>
                </a:solidFill>
              </a:rPr>
              <a:t>171 abstracts (24.8%), the largest track, anchored by the Food-Water-Energy nexus and circular economy.</a:t>
            </a:r>
          </a:p>
          <a:p>
            <a:pPr>
              <a:spcBef>
                <a:spcPts val="60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950">
                <a:solidFill>
                  <a:srgbClr val="0F172A"/>
                </a:solidFill>
              </a:rPr>
              <a:t>Theme 3 (Climate Nexus): </a:t>
            </a:r>
            <a:r>
              <a:rPr sz="900">
                <a:solidFill>
                  <a:srgbClr val="64748B"/>
                </a:solidFill>
              </a:rPr>
              <a:t>166 abstracts (24.1%), the 2nd largest track, highlighting climate adaptation, governance, finance, and equitable net-zero transitions.</a:t>
            </a:r>
          </a:p>
          <a:p>
            <a:pPr>
              <a:spcBef>
                <a:spcPts val="60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950">
                <a:solidFill>
                  <a:srgbClr val="0F172A"/>
                </a:solidFill>
              </a:rPr>
              <a:t>Theme 4 (Health) &amp; Theme 5 (AI): </a:t>
            </a:r>
            <a:r>
              <a:rPr sz="900">
                <a:solidFill>
                  <a:srgbClr val="64748B"/>
                </a:solidFill>
              </a:rPr>
              <a:t>106 (15.4%) and 92 (13.3%) abstracts respectively, providing human health foundations and digital enablement tools.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2834640"/>
            <a:ext cx="345643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6448" y="3017520"/>
            <a:ext cx="73152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2999232"/>
            <a:ext cx="299923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Session Architecture &amp;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3474720"/>
            <a:ext cx="2999232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>
                <a:solidFill>
                  <a:srgbClr val="7C3AED"/>
                </a:solidFill>
              </a:defRPr>
            </a:pPr>
            <a:r>
              <a:t>• </a:t>
            </a:r>
            <a:r>
              <a:rPr b="1" sz="950">
                <a:solidFill>
                  <a:srgbClr val="0F172A"/>
                </a:solidFill>
              </a:rPr>
              <a:t>Massive Oral Demand: </a:t>
            </a:r>
            <a:r>
              <a:rPr sz="900">
                <a:solidFill>
                  <a:srgbClr val="64748B"/>
                </a:solidFill>
              </a:rPr>
              <a:t>545 abstracts (79.0%) request Oral Presentations, requiring robust multi-parallel track scheduling (4-5 concurrent tracks).</a:t>
            </a:r>
          </a:p>
          <a:p>
            <a:pPr>
              <a:spcBef>
                <a:spcPts val="600"/>
              </a:spcBef>
              <a:defRPr sz="1000">
                <a:solidFill>
                  <a:srgbClr val="7C3AED"/>
                </a:solidFill>
              </a:defRPr>
            </a:pPr>
            <a:r>
              <a:t>• </a:t>
            </a:r>
            <a:r>
              <a:rPr b="1" sz="950">
                <a:solidFill>
                  <a:srgbClr val="0F172A"/>
                </a:solidFill>
              </a:rPr>
              <a:t>Targeted Poster Track: </a:t>
            </a:r>
            <a:r>
              <a:rPr sz="900">
                <a:solidFill>
                  <a:srgbClr val="64748B"/>
                </a:solidFill>
              </a:rPr>
              <a:t>91 submissions (13.2%) designated for Poster Presentations across interactive exhibition areas.</a:t>
            </a:r>
          </a:p>
          <a:p>
            <a:pPr>
              <a:spcBef>
                <a:spcPts val="600"/>
              </a:spcBef>
              <a:defRPr sz="1000">
                <a:solidFill>
                  <a:srgbClr val="7C3AED"/>
                </a:solidFill>
              </a:defRPr>
            </a:pPr>
            <a:r>
              <a:t>• </a:t>
            </a:r>
            <a:r>
              <a:rPr b="1" sz="950">
                <a:solidFill>
                  <a:srgbClr val="0F172A"/>
                </a:solidFill>
              </a:rPr>
              <a:t>High-Impact Panels: </a:t>
            </a:r>
            <a:r>
              <a:rPr sz="900">
                <a:solidFill>
                  <a:srgbClr val="64748B"/>
                </a:solidFill>
              </a:rPr>
              <a:t>54 curated sessions (29 Innovative Sessions and 25 Full Panel Sessions) proposed by premier research networks and consortia.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GEOGRAPHIC REACH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Global Geographic Footprint: 78 Primary Submitting Nations</a:t>
            </a:r>
          </a:p>
        </p:txBody>
      </p:sp>
      <p:pic>
        <p:nvPicPr>
          <p:cNvPr id="4" name="Picture 3" descr="map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58952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371600"/>
            <a:ext cx="2926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554480"/>
            <a:ext cx="25603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Global Distribution Highlights</a:t>
            </a:r>
          </a:p>
          <a:p>
            <a:pPr>
              <a:spcBef>
                <a:spcPts val="80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Host Nation Leading: </a:t>
            </a:r>
            <a:r>
              <a:rPr sz="950">
                <a:solidFill>
                  <a:srgbClr val="64748B"/>
                </a:solidFill>
              </a:rPr>
              <a:t>Netherlands leads with 26 submissions (43 including international co-authorships).</a:t>
            </a:r>
          </a:p>
          <a:p>
            <a:pPr>
              <a:spcBef>
                <a:spcPts val="80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Global South Strength: </a:t>
            </a:r>
            <a:r>
              <a:rPr sz="950">
                <a:solidFill>
                  <a:srgbClr val="64748B"/>
                </a:solidFill>
              </a:rPr>
              <a:t>India (64), China (58), Indonesia (32), Nepal (16) and Ghana (28), South Africa (23) demonstrate high research activity.</a:t>
            </a:r>
          </a:p>
          <a:p>
            <a:pPr>
              <a:spcBef>
                <a:spcPts val="80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Broad African Engagement: </a:t>
            </a:r>
            <a:r>
              <a:rPr sz="950">
                <a:solidFill>
                  <a:srgbClr val="64748B"/>
                </a:solidFill>
              </a:rPr>
              <a:t>15 African countries submitted abstracts, reflecting intense interest in climate resilience and just transitions.</a:t>
            </a:r>
          </a:p>
          <a:p>
            <a:pPr>
              <a:spcBef>
                <a:spcPts val="80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Multi-Country Consortia: </a:t>
            </a:r>
            <a:r>
              <a:rPr sz="950">
                <a:solidFill>
                  <a:srgbClr val="64748B"/>
                </a:solidFill>
              </a:rPr>
              <a:t>85 countries participate when including international co-authors and panel speakers.</a:t>
            </a:r>
          </a:p>
          <a:p>
            <a:pPr>
              <a:spcBef>
                <a:spcPts val="80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Discrete HTML Map: </a:t>
            </a:r>
            <a:r>
              <a:rPr sz="950">
                <a:solidFill>
                  <a:srgbClr val="64748B"/>
                </a:solidFill>
              </a:rPr>
              <a:t>Interactive browser map includes discrete binned legends and dynamic theme filters.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758952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Distribution of 690 abstracts across 78 primary submitting countries. Natural Earth projection.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GEOGRAPHIC ANALYSIS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Regional Breakdown &amp; Top Contributing Nations Leaderboard</a:t>
            </a:r>
          </a:p>
        </p:txBody>
      </p:sp>
      <p:pic>
        <p:nvPicPr>
          <p:cNvPr id="4" name="Picture 3" descr="chart_top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931920"/>
          </a:xfrm>
          <a:prstGeom prst="rect">
            <a:avLst/>
          </a:prstGeom>
        </p:spPr>
      </p:pic>
      <p:pic>
        <p:nvPicPr>
          <p:cNvPr id="5" name="Picture 4" descr="chart_reg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02920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394960"/>
            <a:ext cx="3456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468112"/>
            <a:ext cx="3182112" cy="8961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Asia: 225 Submissions (32.6%)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India (64), China (58), Indonesia (32), Nepal (16), Pakistan (9), Thailand (7). Strong focus on agrarian adaptation, WEF nexus, and twin transition.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5394960"/>
            <a:ext cx="3456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9704" y="5468112"/>
            <a:ext cx="3182112" cy="8961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Europe: 274 Submissions (39.7%)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Netherlands (132), Germany (45), UK (27), Belgium (11), Italy (10), Spain (7). Centered on post-2030 governance, circular economy modeling, and planetary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5394960"/>
            <a:ext cx="3456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5468112"/>
            <a:ext cx="3182112" cy="8961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Africa: 104 Submissions (15.1%)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Ghana (28), South Africa (23), Nigeria (14), Uganda (6), Morocco (6), Kenya (6). Critical focus on climate justice, Loss &amp; Damage, health equity, and rural resilience.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THEMATIC LANDSCAPE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Thematic Distribution: Across 5 Core Pillars (Theme 1 to 5)</a:t>
            </a:r>
          </a:p>
        </p:txBody>
      </p:sp>
      <p:pic>
        <p:nvPicPr>
          <p:cNvPr id="4" name="Picture 3" descr="chart_t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9319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371600"/>
          <a:ext cx="5029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377440"/>
                <a:gridCol w="731520"/>
                <a:gridCol w="914400"/>
              </a:tblGrid>
              <a:tr h="655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Focus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Papers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Share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Theme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Lessons from SDGs Beyond 2030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22.5%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Theme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Building Resilience Across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Theme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Climate Change–Development Nexus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166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24.1%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Theme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Health, Well-being &amp; Social Foundations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Theme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AI, Big Data &amp; Digitalization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59552"/>
            <a:ext cx="103327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KEY THEMATIC TAKEAWAYS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</a:defRPr>
            </a:pPr>
            <a:r>
              <a:t>• Themes 1 through 5 provide an integrated systemic continuum from post-2030 governance (Theme 1), natural-human resilience (Theme 2), and climate justice (Theme 3) to health equity (Theme 4) and digital enablers (Theme 5).</a:t>
            </a:r>
            <a:br/>
            <a:r>
              <a:t>• Themes 2 and 3 represent 48.8% of all submissions, highlighting immense research interest in resource resilience and climate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PROGRAM SCHEDULING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Presentation Formats &amp; Session Architecture</a:t>
            </a:r>
          </a:p>
        </p:txBody>
      </p:sp>
      <p:pic>
        <p:nvPicPr>
          <p:cNvPr id="4" name="Picture 3" descr="chart_form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212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481328"/>
            <a:ext cx="73152" cy="6949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44752"/>
            <a:ext cx="484632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Oral Presentations • </a:t>
            </a:r>
            <a:r>
              <a:rPr sz="1000" b="1">
                <a:solidFill>
                  <a:srgbClr val="2563EB"/>
                </a:solidFill>
              </a:rPr>
              <a:t>545 Submissions (79.0%)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Requires approximately 40 to 45 standard oral sessions (5-6 papers per 90-minute session). Suggest scheduling across 4 parallel thematic tracks over 3 full conference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95728"/>
            <a:ext cx="5212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505456"/>
            <a:ext cx="73152" cy="6949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84632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Poster Presentations • </a:t>
            </a:r>
            <a:r>
              <a:rPr sz="1000" b="1">
                <a:solidFill>
                  <a:srgbClr val="059669"/>
                </a:solidFill>
              </a:rPr>
              <a:t>91 Submissions (13.2%)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Ideal for two dedicated interactive poster reception slots. Posters cluster around empirical fieldwork in Themes 1, 2, and 3, plus pilot models in AI and health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19856"/>
            <a:ext cx="5212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529584"/>
            <a:ext cx="73152" cy="6949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493008"/>
            <a:ext cx="484632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Innovative Sessions • </a:t>
            </a:r>
            <a:r>
              <a:rPr sz="1000" b="1">
                <a:solidFill>
                  <a:srgbClr val="D97706"/>
                </a:solidFill>
              </a:rPr>
              <a:t>29 Submissions (4.2%)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Interactive workshops, co-design labs, and policy dialogues (e.g. decarbonization co-design, nature relationship index, participatory stakeholder modeling). High engagement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443984"/>
            <a:ext cx="5212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4553712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517136"/>
            <a:ext cx="4846320" cy="7680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Full Panel Sessions • </a:t>
            </a:r>
            <a:r>
              <a:rPr sz="1000" b="1">
                <a:solidFill>
                  <a:srgbClr val="7C3AED"/>
                </a:solidFill>
              </a:rPr>
              <a:t>25 Submissions (3.6%)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Curated multi-institutional expert panels (e.g. EU-China modeling consortium, water-energy-food governance, open data for SDG 6, regenerative supply chains). Prime plenary candidates.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59552"/>
            <a:ext cx="103327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PROGRAM COMMITTEE RECOMMENDATION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</a:defRPr>
            </a:pPr>
            <a:r>
              <a:t>• Designate 4 continuous parallel oral presentation streams (Stream A: Climate Nexus; Stream B: Integrated Resilience; Stream C: SDGs Beyond 2030; Stream D: Digital &amp; Health).</a:t>
            </a:r>
            <a:br/>
            <a:r>
              <a:t>• Schedule the 15 special panel and innovative sessions in non-overlapping 90-minute prime conference blocks to maximize cross-disciplinary attendance.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THEME 1 ANALYSIS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Theme 1 Deep-Dive: Lessons from SDGs for Sustainable Development Beyond 2030</a:t>
            </a:r>
          </a:p>
        </p:txBody>
      </p:sp>
      <p:pic>
        <p:nvPicPr>
          <p:cNvPr id="4" name="Picture 3" descr="wordcloud_them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48463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Theme 1 Metrics &amp; Subtopics Breakdown</a:t>
            </a:r>
          </a:p>
          <a:p>
            <a:pPr>
              <a:spcBef>
                <a:spcPts val="300"/>
              </a:spcBef>
              <a:defRPr sz="900">
                <a:solidFill>
                  <a:srgbClr val="D97706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Volume &amp; Representation: </a:t>
            </a:r>
            <a:r>
              <a:rPr sz="800">
                <a:solidFill>
                  <a:srgbClr val="64748B"/>
                </a:solidFill>
              </a:rPr>
              <a:t>155 Submissions (22.5% of conference, 3rd largest theme). 119 Oral, 21 Posters, 3 Panels, 12 Innovative Sessions. Contributing countries led by Netherlands (32), India (13), Germany (11), China (9), Unknown (9).</a:t>
            </a:r>
          </a:p>
          <a:p>
            <a:pPr>
              <a:spcBef>
                <a:spcPts val="300"/>
              </a:spcBef>
              <a:defRPr sz="900">
                <a:solidFill>
                  <a:srgbClr val="D97706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1.1 National &amp; Local SDG Implementation (57 papers, 36.8%): </a:t>
            </a:r>
            <a:r>
              <a:rPr sz="800">
                <a:solidFill>
                  <a:srgbClr val="64748B"/>
                </a:solidFill>
              </a:rPr>
              <a:t>Analyzing institutional barriers, municipal Voluntary Local Reviews (VLRs), and grassroots community alignment.</a:t>
            </a:r>
          </a:p>
          <a:p>
            <a:pPr>
              <a:spcBef>
                <a:spcPts val="300"/>
              </a:spcBef>
              <a:defRPr sz="900">
                <a:solidFill>
                  <a:srgbClr val="D97706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1.5 Methods &amp; Processes for Post-2030 (19 papers, 12.3%): </a:t>
            </a:r>
            <a:r>
              <a:rPr sz="800">
                <a:solidFill>
                  <a:srgbClr val="64748B"/>
                </a:solidFill>
              </a:rPr>
              <a:t>Proposals for next-generation indicator frameworks, dynamic targets, and participatory foresight methodologies beyond the 2030 horizon.</a:t>
            </a:r>
          </a:p>
          <a:p>
            <a:pPr>
              <a:spcBef>
                <a:spcPts val="300"/>
              </a:spcBef>
              <a:defRPr sz="900">
                <a:solidFill>
                  <a:srgbClr val="D97706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1.2 SDG Governance &amp; Partnerships (26 papers, 16.8%): </a:t>
            </a:r>
            <a:r>
              <a:rPr sz="800">
                <a:solidFill>
                  <a:srgbClr val="64748B"/>
                </a:solidFill>
              </a:rPr>
              <a:t>Multi-stakeholder partnerships, public-private pacts, and accountability structures.</a:t>
            </a:r>
          </a:p>
          <a:p>
            <a:pPr>
              <a:spcBef>
                <a:spcPts val="300"/>
              </a:spcBef>
              <a:defRPr sz="900">
                <a:solidFill>
                  <a:srgbClr val="D97706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1.4 Missing Links &amp; Post-2030 Reforms (33 papers, 21.3%): </a:t>
            </a:r>
            <a:r>
              <a:rPr sz="800">
                <a:solidFill>
                  <a:srgbClr val="64748B"/>
                </a:solidFill>
              </a:rPr>
              <a:t>Critiques of current SDG gaps: planetary boundaries, indigenous sovereignty, and degrowth.</a:t>
            </a:r>
          </a:p>
          <a:p>
            <a:pPr>
              <a:spcBef>
                <a:spcPts val="300"/>
              </a:spcBef>
              <a:defRPr sz="900">
                <a:solidFill>
                  <a:srgbClr val="D97706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1.3 Integrated SDG Progress Assessment (20 papers, 12.9%): </a:t>
            </a:r>
            <a:r>
              <a:rPr sz="800">
                <a:solidFill>
                  <a:srgbClr val="64748B"/>
                </a:solidFill>
              </a:rPr>
              <a:t>Cross-goal trade-offs, spillover indices, and quantitative evaluation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59552"/>
            <a:ext cx="103327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THEME 1 ABSTRACT WORD CLUSTER &amp; TOP KEYWORDS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</a:defRPr>
            </a:pPr>
            <a:r>
              <a:t>• Top Abstract Words: development (247), sustainable (229), sustainability (196), sdgs (125), beyond (103), local (95), governance (93), implementation (90), goals (83), national (82), agenda (82).</a:t>
            </a:r>
            <a:br/>
            <a:r>
              <a:t>• Key Author Keywords: sustainable development goals (18), post-2030 agenda (7), sdgs (5), sustainable development (5), sdg localization (4), sustainability (4), sustainability reporting (4).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THEME 2 ANALYSIS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Theme 2 Deep-Dive: Building Resilience across Natural &amp; Human Systems</a:t>
            </a:r>
          </a:p>
        </p:txBody>
      </p:sp>
      <p:pic>
        <p:nvPicPr>
          <p:cNvPr id="4" name="Picture 3" descr="wordcloud_them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48463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Theme 2 Metrics &amp; Subtopics Breakdown</a:t>
            </a:r>
          </a:p>
          <a:p>
            <a:pPr>
              <a:spcBef>
                <a:spcPts val="300"/>
              </a:spcBef>
              <a:defRPr sz="900">
                <a:solidFill>
                  <a:srgbClr val="059669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Volume &amp; Dominance: </a:t>
            </a:r>
            <a:r>
              <a:rPr sz="800">
                <a:solidFill>
                  <a:srgbClr val="64748B"/>
                </a:solidFill>
              </a:rPr>
              <a:t>171 Submissions (24.8% of conference, largest theme). 143 Oral, 18 Posters, 5 Panels, 5 Innovative Sessions. Top countries: Netherlands (27), China (20), India (14), Germany (14), Unknown (11).</a:t>
            </a:r>
          </a:p>
          <a:p>
            <a:pPr>
              <a:spcBef>
                <a:spcPts val="300"/>
              </a:spcBef>
              <a:defRPr sz="900">
                <a:solidFill>
                  <a:srgbClr val="059669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2.1 Food-Water-Energy Nexus (45 papers, 26.3%): </a:t>
            </a:r>
            <a:r>
              <a:rPr sz="800">
                <a:solidFill>
                  <a:srgbClr val="64748B"/>
                </a:solidFill>
              </a:rPr>
              <a:t>Focuses on agricultural food systems, watershed governance, clean energy access, and resource interdependencies.</a:t>
            </a:r>
          </a:p>
          <a:p>
            <a:pPr>
              <a:spcBef>
                <a:spcPts val="300"/>
              </a:spcBef>
              <a:defRPr sz="900">
                <a:solidFill>
                  <a:srgbClr val="059669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2.5 Beyond GDP &amp; Circularity (30 papers, 17.5%): </a:t>
            </a:r>
            <a:r>
              <a:rPr sz="800">
                <a:solidFill>
                  <a:srgbClr val="64748B"/>
                </a:solidFill>
              </a:rPr>
              <a:t>Circular economy models, regenerative supply chains, industrial symbiosis, and bioeconomy innovations.</a:t>
            </a:r>
          </a:p>
          <a:p>
            <a:pPr>
              <a:spcBef>
                <a:spcPts val="300"/>
              </a:spcBef>
              <a:defRPr sz="900">
                <a:solidFill>
                  <a:srgbClr val="059669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2.3 Roles of Equity &amp; Justice (38 papers, 22.2%): </a:t>
            </a:r>
            <a:r>
              <a:rPr sz="800">
                <a:solidFill>
                  <a:srgbClr val="64748B"/>
                </a:solidFill>
              </a:rPr>
              <a:t>Environmental justice, indigenous land stewardship, social vulnerability, and community resilience.</a:t>
            </a:r>
          </a:p>
          <a:p>
            <a:pPr>
              <a:spcBef>
                <a:spcPts val="300"/>
              </a:spcBef>
              <a:defRPr sz="900">
                <a:solidFill>
                  <a:srgbClr val="059669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2.2 Landscapes &amp; Seascapes (29 papers, 17.0%): </a:t>
            </a:r>
            <a:r>
              <a:rPr sz="800">
                <a:solidFill>
                  <a:srgbClr val="64748B"/>
                </a:solidFill>
              </a:rPr>
              <a:t>Ecosystem service valuations, coastal mangrove restoration, marine biodiversity conservation.</a:t>
            </a:r>
          </a:p>
          <a:p>
            <a:pPr>
              <a:spcBef>
                <a:spcPts val="300"/>
              </a:spcBef>
              <a:defRPr sz="900">
                <a:solidFill>
                  <a:srgbClr val="059669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2.4 Urban Transformation &amp; Mobility (29 papers, 17.0%): </a:t>
            </a:r>
            <a:r>
              <a:rPr sz="800">
                <a:solidFill>
                  <a:srgbClr val="64748B"/>
                </a:solidFill>
              </a:rPr>
              <a:t>Low-carbon urban transit, resilient urban planning, and infrastructure retrofitting.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59552"/>
            <a:ext cx="103327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THEME 2 ABSTRACT WORD CLUSTER &amp; TOP KEYWORDS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</a:defRPr>
            </a:pPr>
            <a:r>
              <a:t>• Top Abstract Words: sustainable (179), energy (147), water (126), food (118), environmental (117), urban (115), development (112), resilience (95), framework (93), sustainability (89), global (83).</a:t>
            </a:r>
            <a:br/>
            <a:r>
              <a:t>• Key Author Keywords: community resilience (7), business models (6), biodiversity (6), equity (5), social equity (5), sustainable resource management (5), food system transformation (5).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THEME 3 SPOTLIGHT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Theme 3 Deep-Dive: Navigating the Climate Change–Development Nexus</a:t>
            </a:r>
          </a:p>
        </p:txBody>
      </p:sp>
      <p:pic>
        <p:nvPicPr>
          <p:cNvPr id="4" name="Picture 3" descr="chart_theme3_sub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371600"/>
            <a:ext cx="4846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508760"/>
            <a:ext cx="448056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Theme 3 Structure &amp; Subtopics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Theme 3 captures the intersection of climate action and equitable human progress. 166 abstracts make it the 2nd largest track, covering 5 distinct subtopics:</a:t>
            </a:r>
          </a:p>
          <a:p>
            <a:pPr>
              <a:spcBef>
                <a:spcPts val="400"/>
              </a:spcBef>
              <a:defRPr sz="950">
                <a:solidFill>
                  <a:srgbClr val="7C3AED"/>
                </a:solidFill>
              </a:defRPr>
            </a:pPr>
            <a:r>
              <a:t>• </a:t>
            </a:r>
            <a:r>
              <a:rPr b="1" sz="900">
                <a:solidFill>
                  <a:srgbClr val="0F172A"/>
                </a:solidFill>
              </a:rPr>
              <a:t>3.2 Actions for Climate Adaptation (40 papers, 24.1%): </a:t>
            </a:r>
            <a:r>
              <a:rPr sz="850">
                <a:solidFill>
                  <a:srgbClr val="64748B"/>
                </a:solidFill>
              </a:rPr>
              <a:t>Focuses on building societal resilience, grassroots agricultural adaptations, and nature-based solutions.</a:t>
            </a:r>
          </a:p>
          <a:p>
            <a:pPr>
              <a:spcBef>
                <a:spcPts val="400"/>
              </a:spcBef>
              <a:defRPr sz="950">
                <a:solidFill>
                  <a:srgbClr val="7C3AED"/>
                </a:solidFill>
              </a:defRPr>
            </a:pPr>
            <a:r>
              <a:t>• </a:t>
            </a:r>
            <a:r>
              <a:rPr b="1" sz="900">
                <a:solidFill>
                  <a:srgbClr val="0F172A"/>
                </a:solidFill>
              </a:rPr>
              <a:t>3.5 Climate Governance &amp; Finance (48 papers, 28.9%): </a:t>
            </a:r>
            <a:r>
              <a:rPr sz="850">
                <a:solidFill>
                  <a:srgbClr val="64748B"/>
                </a:solidFill>
              </a:rPr>
              <a:t>Examines international negotiations, carbon pricing, Article 6, Loss &amp; Damage funds, and multi-level climate policies.</a:t>
            </a:r>
          </a:p>
          <a:p>
            <a:pPr>
              <a:spcBef>
                <a:spcPts val="400"/>
              </a:spcBef>
              <a:defRPr sz="950">
                <a:solidFill>
                  <a:srgbClr val="7C3AED"/>
                </a:solidFill>
              </a:defRPr>
            </a:pPr>
            <a:r>
              <a:t>• </a:t>
            </a:r>
            <a:r>
              <a:rPr b="1" sz="900">
                <a:solidFill>
                  <a:srgbClr val="0F172A"/>
                </a:solidFill>
              </a:rPr>
              <a:t>3.3 Mitigation &amp; Net-Zero Pathways (51 papers, 30.7%): </a:t>
            </a:r>
            <a:r>
              <a:rPr sz="850">
                <a:solidFill>
                  <a:srgbClr val="64748B"/>
                </a:solidFill>
              </a:rPr>
              <a:t>Explores renewable transitions, industrial decarbonization, and socially just phase-out of fossil fuels.</a:t>
            </a:r>
          </a:p>
          <a:p>
            <a:pPr>
              <a:spcBef>
                <a:spcPts val="400"/>
              </a:spcBef>
              <a:defRPr sz="950">
                <a:solidFill>
                  <a:srgbClr val="7C3AED"/>
                </a:solidFill>
              </a:defRPr>
            </a:pPr>
            <a:r>
              <a:t>• </a:t>
            </a:r>
            <a:r>
              <a:rPr b="1" sz="900">
                <a:solidFill>
                  <a:srgbClr val="0F172A"/>
                </a:solidFill>
              </a:rPr>
              <a:t>3.4 Climate Actions for Human Security (17 papers, 10.2%): </a:t>
            </a:r>
            <a:r>
              <a:rPr sz="850">
                <a:solidFill>
                  <a:srgbClr val="64748B"/>
                </a:solidFill>
              </a:rPr>
              <a:t>Addresses climate migration, conflict vulnerabilities, displacement, and livelihood security.</a:t>
            </a:r>
          </a:p>
          <a:p>
            <a:pPr>
              <a:spcBef>
                <a:spcPts val="400"/>
              </a:spcBef>
              <a:defRPr sz="950">
                <a:solidFill>
                  <a:srgbClr val="7C3AED"/>
                </a:solidFill>
              </a:defRPr>
            </a:pPr>
            <a:r>
              <a:t>• </a:t>
            </a:r>
            <a:r>
              <a:rPr b="1" sz="900">
                <a:solidFill>
                  <a:srgbClr val="0F172A"/>
                </a:solidFill>
              </a:rPr>
              <a:t>3.1 Earth System Modeling &amp; Impacts (10 papers, 6.0%): </a:t>
            </a:r>
            <a:r>
              <a:rPr sz="850">
                <a:solidFill>
                  <a:srgbClr val="64748B"/>
                </a:solidFill>
              </a:rPr>
              <a:t>Quantitative climate forecasting, tipping point analytics, and localized socio-ecological impact simulations.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59552"/>
            <a:ext cx="1828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166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Submissions (24.1%)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54864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5559552"/>
            <a:ext cx="1828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39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Contributing 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54864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5559552"/>
            <a:ext cx="1828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135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Oral Presentations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54864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776" y="5559552"/>
            <a:ext cx="1828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20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Poster Presentations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54864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8048" y="5559552"/>
            <a:ext cx="1828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11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Special Sessions (4 Inn, 7 Pan)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THEME 3 ANALYSIS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Theme 3 Global Geography &amp; Abstract Word Cluster</a:t>
            </a:r>
          </a:p>
        </p:txBody>
      </p:sp>
      <p:pic>
        <p:nvPicPr>
          <p:cNvPr id="4" name="Picture 3" descr="map_them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931920"/>
          </a:xfrm>
          <a:prstGeom prst="rect">
            <a:avLst/>
          </a:prstGeom>
        </p:spPr>
      </p:pic>
      <p:pic>
        <p:nvPicPr>
          <p:cNvPr id="5" name="Picture 4" descr="wordcloud_them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484632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59552"/>
            <a:ext cx="103327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THEME 3 GEOGRAPHIC &amp; LEXICAL SUMMARY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</a:defRPr>
            </a:pPr>
            <a:r>
              <a:t>• Top Contributing Nations (39 total): Netherlands (33), India (25), Germany (10), China (10), Unknown (10), South Africa (9), UK (8), Ghana (7), Nepal (6), Bangladesh (5).</a:t>
            </a:r>
            <a:br/>
            <a:r>
              <a:t>• Top Abstract Words: climate (379), development (151), change (128), adaptation (108), sustainable (100), transition (98), energy (88), governance (87), environmental (84).</a:t>
            </a:r>
            <a:br/>
            <a:r>
              <a:t>• Key Author Keywords: climate change (12), climate finance (8), just transition (6), climate adaptation (5), climate change adaptation (4).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THEME 4 ANALYSIS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Theme 4 Deep-Dive: Health, Well-being, and Societal Foundations</a:t>
            </a:r>
          </a:p>
        </p:txBody>
      </p:sp>
      <p:pic>
        <p:nvPicPr>
          <p:cNvPr id="4" name="Picture 3" descr="wordcloud_them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48463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Theme 4 Metrics &amp; Subtopics Breakdown</a:t>
            </a:r>
          </a:p>
          <a:p>
            <a:pPr>
              <a:spcBef>
                <a:spcPts val="300"/>
              </a:spcBef>
              <a:defRPr sz="900">
                <a:solidFill>
                  <a:srgbClr val="7C3AED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Volume &amp; Geographic Diversity: </a:t>
            </a:r>
            <a:r>
              <a:rPr sz="800">
                <a:solidFill>
                  <a:srgbClr val="64748B"/>
                </a:solidFill>
              </a:rPr>
              <a:t>106 Submissions (15.4% of conference, 4th largest theme). 76 Oral, 21 Posters, 5 Panels, 4 Innovative Sessions. Top countries: Netherlands (24), China (12), Indonesia (11), Ghana (10), India (9).</a:t>
            </a:r>
          </a:p>
          <a:p>
            <a:pPr>
              <a:spcBef>
                <a:spcPts val="300"/>
              </a:spcBef>
              <a:defRPr sz="900">
                <a:solidFill>
                  <a:srgbClr val="7C3AED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4.4 Health Equity &amp; Societal Outcomes (41 papers, 38.7%): </a:t>
            </a:r>
            <a:r>
              <a:rPr sz="800">
                <a:solidFill>
                  <a:srgbClr val="64748B"/>
                </a:solidFill>
              </a:rPr>
              <a:t>Evaluates inner development, mental health, gender disparities, social determinants, and community well-being.</a:t>
            </a:r>
          </a:p>
          <a:p>
            <a:pPr>
              <a:spcBef>
                <a:spcPts val="300"/>
              </a:spcBef>
              <a:defRPr sz="900">
                <a:solidFill>
                  <a:srgbClr val="7C3AED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4.5 Health as Outcome &amp; Driver of Sustainability (25 papers, 23.6%): </a:t>
            </a:r>
            <a:r>
              <a:rPr sz="800">
                <a:solidFill>
                  <a:srgbClr val="64748B"/>
                </a:solidFill>
              </a:rPr>
              <a:t>Economic productivity linkages, universal health coverage (UHC), and social foundation resilience.</a:t>
            </a:r>
          </a:p>
          <a:p>
            <a:pPr>
              <a:spcBef>
                <a:spcPts val="300"/>
              </a:spcBef>
              <a:defRPr sz="900">
                <a:solidFill>
                  <a:srgbClr val="7C3AED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4.3 Solutions &amp; Innovations for Healthier Societies (13 papers, 12.3%): </a:t>
            </a:r>
            <a:r>
              <a:rPr sz="800">
                <a:solidFill>
                  <a:srgbClr val="64748B"/>
                </a:solidFill>
              </a:rPr>
              <a:t>Community-based healthcare interventions, digital health tools, and indigenous medical practices.</a:t>
            </a:r>
          </a:p>
          <a:p>
            <a:pPr>
              <a:spcBef>
                <a:spcPts val="300"/>
              </a:spcBef>
              <a:defRPr sz="900">
                <a:solidFill>
                  <a:srgbClr val="7C3AED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4.2 Environmental Health &amp; Exposure Science (21 papers, 19.8%): </a:t>
            </a:r>
            <a:r>
              <a:rPr sz="800">
                <a:solidFill>
                  <a:srgbClr val="64748B"/>
                </a:solidFill>
              </a:rPr>
              <a:t>Air pollution exposure (e.g. Max Planck Mainz particulate analysis), microplastics, chemical toxins.</a:t>
            </a:r>
          </a:p>
          <a:p>
            <a:pPr>
              <a:spcBef>
                <a:spcPts val="300"/>
              </a:spcBef>
              <a:defRPr sz="900">
                <a:solidFill>
                  <a:srgbClr val="7C3AED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4.1 One Health Nexus &amp; Ecological Ceilings (6 papers, 5.7%): </a:t>
            </a:r>
            <a:r>
              <a:rPr sz="800">
                <a:solidFill>
                  <a:srgbClr val="64748B"/>
                </a:solidFill>
              </a:rPr>
              <a:t>Zoonotic disease emergence, animal-human-ecosystem health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59552"/>
            <a:ext cx="103327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THEME 4 ABSTRACT WORD CLUSTER &amp; TOP KEYWORDS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</a:defRPr>
            </a:pPr>
            <a:r>
              <a:t>• Top Abstract Words: health (237), sustainable (89), environmental (86), development (79), well-being (69), social (61), climate (45), exposure (42), healthcare (41), urban (38), policy (37).</a:t>
            </a:r>
            <a:br/>
            <a:r>
              <a:t>• Key Author Keywords: sustainable development (4), well-being (4), climate change (3), nigeria (3), sustainability (3), health equity (3), population health (3).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THEME 5 ANALYSIS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Theme 5 Deep-Dive: AI, Big Data &amp; Digitalization as Enablers</a:t>
            </a:r>
          </a:p>
        </p:txBody>
      </p:sp>
      <p:pic>
        <p:nvPicPr>
          <p:cNvPr id="4" name="Picture 3" descr="wordcloud_them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3931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48463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Theme 5 Metrics &amp; Subtopics Breakdown</a:t>
            </a:r>
          </a:p>
          <a:p>
            <a:pPr>
              <a:spcBef>
                <a:spcPts val="300"/>
              </a:spcBef>
              <a:defRPr sz="900">
                <a:solidFill>
                  <a:srgbClr val="0284C7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Volume &amp; Frontier Scope: </a:t>
            </a:r>
            <a:r>
              <a:rPr sz="800">
                <a:solidFill>
                  <a:srgbClr val="64748B"/>
                </a:solidFill>
              </a:rPr>
              <a:t>92 Submissions (13.3% of conference, smallest theme). 72 Oral, 11 Posters, 5 Panels, 4 Innovative Sessions. Top contributing nations: Netherlands (16), Indonesia (7), China (7), South Africa (6), Unknown (6).</a:t>
            </a:r>
          </a:p>
          <a:p>
            <a:pPr>
              <a:spcBef>
                <a:spcPts val="300"/>
              </a:spcBef>
              <a:defRPr sz="900">
                <a:solidFill>
                  <a:srgbClr val="0284C7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5.5 AI &amp; Digitalization by/beyond 2030 (39 papers, 42.4%): </a:t>
            </a:r>
            <a:r>
              <a:rPr sz="800">
                <a:solidFill>
                  <a:srgbClr val="64748B"/>
                </a:solidFill>
              </a:rPr>
              <a:t>Exploring macro-level digital transformation, sustainable smart cities, and AI in SDG achievement.</a:t>
            </a:r>
          </a:p>
          <a:p>
            <a:pPr>
              <a:spcBef>
                <a:spcPts val="300"/>
              </a:spcBef>
              <a:defRPr sz="900">
                <a:solidFill>
                  <a:srgbClr val="0284C7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5.2 Twin Transition (Green + Digital) (9 papers, 20.0%): </a:t>
            </a:r>
            <a:r>
              <a:rPr sz="800">
                <a:solidFill>
                  <a:srgbClr val="64748B"/>
                </a:solidFill>
              </a:rPr>
              <a:t>Investigating how digitalization and green transition intersect, rebound effects, and energy consumption of data infrastructure.</a:t>
            </a:r>
          </a:p>
          <a:p>
            <a:pPr>
              <a:spcBef>
                <a:spcPts val="300"/>
              </a:spcBef>
              <a:defRPr sz="900">
                <a:solidFill>
                  <a:srgbClr val="0284C7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5.1 AI Methods &amp; Analytics (11 papers, 12.0%): </a:t>
            </a:r>
            <a:r>
              <a:rPr sz="800">
                <a:solidFill>
                  <a:srgbClr val="64748B"/>
                </a:solidFill>
              </a:rPr>
              <a:t>Machine learning algorithms, remote sensing earth observation, and satellite data analytics for ecological monitoring.</a:t>
            </a:r>
          </a:p>
          <a:p>
            <a:pPr>
              <a:spcBef>
                <a:spcPts val="300"/>
              </a:spcBef>
              <a:defRPr sz="900">
                <a:solidFill>
                  <a:srgbClr val="0284C7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5.4 Trustworthy AI &amp; Governance (16 papers, 17.4%): </a:t>
            </a:r>
            <a:r>
              <a:rPr sz="800">
                <a:solidFill>
                  <a:srgbClr val="64748B"/>
                </a:solidFill>
              </a:rPr>
              <a:t>Algorithmic bias in sustainability policy, digital public goods, data sovereignty, and ethical AI safeguards.</a:t>
            </a:r>
          </a:p>
          <a:p>
            <a:pPr>
              <a:spcBef>
                <a:spcPts val="300"/>
              </a:spcBef>
              <a:defRPr sz="900">
                <a:solidFill>
                  <a:srgbClr val="0284C7"/>
                </a:solidFill>
              </a:defRPr>
            </a:pPr>
            <a:r>
              <a:t>• </a:t>
            </a:r>
            <a:r>
              <a:rPr b="1" sz="850">
                <a:solidFill>
                  <a:srgbClr val="0F172A"/>
                </a:solidFill>
              </a:rPr>
              <a:t>5.3 AI Tools for Decision-Making (13 papers, 14.1%): </a:t>
            </a:r>
            <a:r>
              <a:rPr sz="800">
                <a:solidFill>
                  <a:srgbClr val="64748B"/>
                </a:solidFill>
              </a:rPr>
              <a:t>Decision-support systems for municipal resource allocation and disaster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59552"/>
            <a:ext cx="103327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THEME 5 ABSTRACT WORD CLUSTER &amp; TOP KEYWORDS</a:t>
            </a:r>
          </a:p>
          <a:p>
            <a:pPr>
              <a:spcBef>
                <a:spcPts val="300"/>
              </a:spcBef>
              <a:defRPr sz="900">
                <a:solidFill>
                  <a:srgbClr val="64748B"/>
                </a:solidFill>
              </a:defRPr>
            </a:pPr>
            <a:r>
              <a:t>• Top Abstract Words: digital (151), sustainable (133), development (120), sustainability (90), governance (70), intelligence (52), environmental (52), beyond (51), climate (50), framework (49), artificial (48).</a:t>
            </a:r>
            <a:br/>
            <a:r>
              <a:t>• Key Author Keywords: artificial intelligence (14), sustainable development (6), big data (5), digitalization (5), sustainability (4), responsible innovation (4), data governance (4).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CROSS-CUTTING ANALYSIS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Cross-Thematic Synergies &amp; Thematic Intersection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1005840"/>
                <a:gridCol w="246888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Papers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Countries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Top Subtopic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Dominant Word Cluster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Cross-Theme Synergy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Theme 1 (SDGs)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155 (22.5%)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1.1 SDG Local Implementation (57)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development, institutional, localization, governance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Feeds governance frameworks into Themes 2 &amp;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Theme 2 (Resilience)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171 (24.8%)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2.1 Food-Water-Energy Nexus 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water, food, energy, circular, biodiversity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Supplies ecological baselines for Health (T4) &amp; Climate (T3)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Theme 3 (Climate)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166 (24.1%)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3.2 Climate Adaptation (40)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climate, adaptation, policy, just transition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Intersects with AI analytics (T5) &amp; Human Security (T4)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Theme 4 (Health)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106 (15.4%)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4.4 Health Equity &amp; Well-being (41)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health, well-being, exposure, urban,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Bridges pollution data with climate extreme impacts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Theme 5 (AI/Digital)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92 (13.3%)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5.5 AI by/beyond 2030 (39)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digital, intelligence, systems, twin transition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Enables data monitoring across ALL themes (1, 2, 3, 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846320"/>
            <a:ext cx="10698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56048"/>
            <a:ext cx="103327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STRATEGIC CROSS-THEMATIC CONVERGENCES</a:t>
            </a:r>
          </a:p>
          <a:p>
            <a:pPr>
              <a:spcBef>
                <a:spcPts val="300"/>
              </a:spcBef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 sz="900">
                <a:solidFill>
                  <a:srgbClr val="0F172A"/>
                </a:solidFill>
              </a:rPr>
              <a:t>The 'Twin Transition' Interface: </a:t>
            </a:r>
            <a:r>
              <a:rPr sz="850">
                <a:solidFill>
                  <a:srgbClr val="64748B"/>
                </a:solidFill>
              </a:rPr>
              <a:t>Strong natural convergence between Theme 3 (Climate mitigation) and Theme 5 (AI &amp; big data), specifically in digital carbon accounting, satellite earth observation, and smart grid optimization.</a:t>
            </a:r>
          </a:p>
          <a:p>
            <a:pPr>
              <a:spcBef>
                <a:spcPts val="300"/>
              </a:spcBef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 sz="900">
                <a:solidFill>
                  <a:srgbClr val="0F172A"/>
                </a:solidFill>
              </a:rPr>
              <a:t>The Ecological Health Nexus: </a:t>
            </a:r>
            <a:r>
              <a:rPr sz="850">
                <a:solidFill>
                  <a:srgbClr val="64748B"/>
                </a:solidFill>
              </a:rPr>
              <a:t>Theme 2 (Water/Food) and Theme 4 (Health) share critical empirical ground regarding agricultural pesticides, clean water access, and urban microclimates.</a:t>
            </a:r>
          </a:p>
          <a:p>
            <a:pPr>
              <a:spcBef>
                <a:spcPts val="300"/>
              </a:spcBef>
              <a:defRPr sz="950">
                <a:solidFill>
                  <a:srgbClr val="2563EB"/>
                </a:solidFill>
              </a:defRPr>
            </a:pPr>
            <a:r>
              <a:t>• </a:t>
            </a:r>
            <a:r>
              <a:rPr b="1" sz="900">
                <a:solidFill>
                  <a:srgbClr val="0F172A"/>
                </a:solidFill>
              </a:rPr>
              <a:t>Justice &amp; Just Transition as the Universal Thread: </a:t>
            </a:r>
            <a:r>
              <a:rPr sz="850">
                <a:solidFill>
                  <a:srgbClr val="64748B"/>
                </a:solidFill>
              </a:rPr>
              <a:t>Social equity is prominently featured in Theme 1 (indigenous voices), Theme 2 (fair resource allocation), and Theme 3 (just transition in coal/fossil regions).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PROGRAM RECOMMENDATIONS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Actionable Conference Planning &amp; Track Allocation Guidance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731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299923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Track Allocation &amp; Parallel Rooms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90672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Establish 4 Dedicated Parallel Streams: </a:t>
            </a:r>
            <a:r>
              <a:rPr sz="950">
                <a:solidFill>
                  <a:srgbClr val="64748B"/>
                </a:solidFill>
              </a:rPr>
              <a:t>Stream A (Climate Nexus), Stream B (Natural-Human Systems), Stream C (SDGs &amp; Governance), Stream D (AI &amp; Health).</a:t>
            </a:r>
          </a:p>
          <a:p>
            <a:pPr>
              <a:spcBef>
                <a:spcPts val="100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Room Sizing by Volume: </a:t>
            </a:r>
            <a:r>
              <a:rPr sz="950">
                <a:solidFill>
                  <a:srgbClr val="64748B"/>
                </a:solidFill>
              </a:rPr>
              <a:t>Allocate the largest auditorium facilities to the two biggest themes: Theme 2 (171 papers) and Theme 3 (166 papers), which will draw peak delegate interest.</a:t>
            </a:r>
          </a:p>
          <a:p>
            <a:pPr>
              <a:spcBef>
                <a:spcPts val="1000"/>
              </a:spcBef>
              <a:defRPr sz="1000">
                <a:solidFill>
                  <a:srgbClr val="2563EB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Session Granularity: </a:t>
            </a:r>
            <a:r>
              <a:rPr sz="950">
                <a:solidFill>
                  <a:srgbClr val="64748B"/>
                </a:solidFill>
              </a:rPr>
              <a:t>Plan approximately 45 oral sessions with 5-6 papers each (15 min presentation + Q&amp;A).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37160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35424" y="1554480"/>
            <a:ext cx="731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1536192"/>
            <a:ext cx="299923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Poster Sessions &amp; Exhibition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03120"/>
            <a:ext cx="3090672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059669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Thematic Clustering of 91 Posters: </a:t>
            </a:r>
            <a:r>
              <a:rPr sz="950">
                <a:solidFill>
                  <a:srgbClr val="64748B"/>
                </a:solidFill>
              </a:rPr>
              <a:t>Cluster posters into 4 thematic islands matching the main conference pillars.</a:t>
            </a:r>
          </a:p>
          <a:p>
            <a:pPr>
              <a:spcBef>
                <a:spcPts val="1000"/>
              </a:spcBef>
              <a:defRPr sz="1000">
                <a:solidFill>
                  <a:srgbClr val="059669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Two Dedicated Unopposed Poster Slots: </a:t>
            </a:r>
            <a:r>
              <a:rPr sz="950">
                <a:solidFill>
                  <a:srgbClr val="64748B"/>
                </a:solidFill>
              </a:rPr>
              <a:t>Schedule two 60-minute reception slots (e.g., late afternoon Day 1 and Day 2) with refreshments to guarantee high delegate interaction.</a:t>
            </a:r>
          </a:p>
          <a:p>
            <a:pPr>
              <a:spcBef>
                <a:spcPts val="1000"/>
              </a:spcBef>
              <a:defRPr sz="1000">
                <a:solidFill>
                  <a:srgbClr val="059669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Rapid Poster Pitch Competition: </a:t>
            </a:r>
            <a:r>
              <a:rPr sz="950">
                <a:solidFill>
                  <a:srgbClr val="64748B"/>
                </a:solidFill>
              </a:rPr>
              <a:t>Provide 60-second lightning pitches for early-career scholars prior to the poster session.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371600"/>
            <a:ext cx="3456432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554480"/>
            <a:ext cx="73152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536192"/>
            <a:ext cx="299923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Curated Panels &amp; Interactive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103120"/>
            <a:ext cx="3090672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defRPr sz="1000">
                <a:solidFill>
                  <a:srgbClr val="7C3AED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Elevate 15 Special Sessions: </a:t>
            </a:r>
            <a:r>
              <a:rPr sz="950">
                <a:solidFill>
                  <a:srgbClr val="64748B"/>
                </a:solidFill>
              </a:rPr>
              <a:t>The 7 Full Panels and 8 Innovative Sessions involve multi-institutional consortia (e.g. EU-China, SDSN, Jagiellonian, CAS, Max Planck).</a:t>
            </a:r>
          </a:p>
          <a:p>
            <a:pPr>
              <a:spcBef>
                <a:spcPts val="1000"/>
              </a:spcBef>
              <a:defRPr sz="1000">
                <a:solidFill>
                  <a:srgbClr val="7C3AED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Semi-Plenary Positioning: </a:t>
            </a:r>
            <a:r>
              <a:rPr sz="950">
                <a:solidFill>
                  <a:srgbClr val="64748B"/>
                </a:solidFill>
              </a:rPr>
              <a:t>Schedule panels in prominent mid-morning slots to anchor plenary debates and foster cross-theme dialogue.</a:t>
            </a:r>
          </a:p>
          <a:p>
            <a:pPr>
              <a:spcBef>
                <a:spcPts val="1000"/>
              </a:spcBef>
              <a:defRPr sz="1000">
                <a:solidFill>
                  <a:srgbClr val="7C3AED"/>
                </a:solidFill>
              </a:defRPr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Workshop Co-Design Rooms: </a:t>
            </a:r>
            <a:r>
              <a:rPr sz="950">
                <a:solidFill>
                  <a:srgbClr val="64748B"/>
                </a:solidFill>
              </a:rPr>
              <a:t>Equip innovative session rooms with flexible round-table seating rather than standard theater style.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CONCLUSION &amp; RESOURCES</a:t>
            </a:r>
          </a:p>
          <a:p>
            <a:pPr>
              <a:spcBef>
                <a:spcPts val="300"/>
              </a:spcBef>
              <a:defRPr sz="2100" b="1">
                <a:solidFill>
                  <a:srgbClr val="FFFFFF"/>
                </a:solidFill>
              </a:defRPr>
            </a:pPr>
            <a:r>
              <a:t>Analytical Package &amp; Deliverables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73152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81328"/>
            <a:ext cx="10149840" cy="7863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PowerPoint Report (PPTX) — </a:t>
            </a:r>
            <a:r>
              <a:rPr sz="1100" b="1">
                <a:solidFill>
                  <a:srgbClr val="38BDF8"/>
                </a:solidFill>
              </a:rPr>
              <a:t>GSC2027_Abstract_Submissions_Analysis_Report.pptx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15 comprehensive widescreen slides featuring discrete maps, sequential thematic deep-dives (Themes 1 to 5), and scheduling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79192"/>
            <a:ext cx="73152" cy="7315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0149840" cy="7863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Interactive World Map Dashboard (HTML) — </a:t>
            </a:r>
            <a:r>
              <a:rPr sz="1100" b="1">
                <a:solidFill>
                  <a:srgbClr val="818CF8"/>
                </a:solidFill>
              </a:rPr>
              <a:t>gsc2027_interactive_world_map.html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Clean white academic dashboard with discrete binned map tiers, dynamic theme selector (Strict 1 to 5), pie charts, word clusters, and sortable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12464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849624"/>
            <a:ext cx="73152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22192"/>
            <a:ext cx="10149840" cy="7863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Master Submissions Database (Excel &amp; CSV) — </a:t>
            </a:r>
            <a:r>
              <a:rPr sz="1100" b="1">
                <a:solidFill>
                  <a:srgbClr val="34D399"/>
                </a:solidFill>
              </a:rPr>
              <a:t>GSC2027_Abstract_Submissions_Master.xlsx / .csv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Complete cleaned dataset of all 690 abstracts with ID, title, author lists, organizations, verified country, subtopic codes, keywords, and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82896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5020056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92624"/>
            <a:ext cx="10149840" cy="7863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High-Res Visual Assets Suite — </a:t>
            </a:r>
            <a:r>
              <a:rPr sz="1100" b="1">
                <a:solidFill>
                  <a:srgbClr val="FBBF24"/>
                </a:solidFill>
              </a:rPr>
              <a:t>visuals/ directory (13 High-DPI Assets)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Includes global and Theme 3 choropleth maps, theme distribution charts, subtopic bars, format breakdowns, and 6 specialized NLP word clouds.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Groningen Sustainability Conference 2027 (GSC 2027) • University of Groningen, Netherlands • Scientific Advisory &amp; Analytics Desk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