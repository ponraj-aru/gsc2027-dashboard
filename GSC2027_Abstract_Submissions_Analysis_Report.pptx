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9728" cy="4389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OFFICIAL SCIENTIFIC COMMITTEE ANALYTICAL REPORT</a:t>
            </a:r>
          </a:p>
          <a:p>
            <a:pPr>
              <a:spcBef>
                <a:spcPts val="800"/>
              </a:spcBef>
              <a:defRPr sz="3200" b="1">
                <a:solidFill>
                  <a:srgbClr val="FFFFFF"/>
                </a:solidFill>
              </a:defRPr>
            </a:pPr>
            <a:r>
              <a:t>Groningen Sustainability Conference 2027</a:t>
            </a:r>
          </a:p>
          <a:p>
            <a:pPr>
              <a:spcBef>
                <a:spcPts val="1000"/>
              </a:spcBef>
              <a:defRPr sz="1800">
                <a:solidFill>
                  <a:srgbClr val="BAE6FD"/>
                </a:solidFill>
              </a:defRPr>
            </a:pPr>
            <a:r>
              <a:t>Comprehensive Abstract Submissions, Thematic Landscape &amp; Global Country Mapping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Rigorous empirical analysis of 301 conference submissions across 66 primary nations • Sequential Thematic Deep-Dives (Themes 1 to 5) • Discrete Global Mapping &amp; Abstract Lexical Clusters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301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TOTAL ABSTRACTS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7764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818CF8"/>
                </a:solidFill>
              </a:defRPr>
            </a:pPr>
            <a:r>
              <a:t>66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PRIMARY NATIONS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5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CORE THEMES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BBF24"/>
                </a:solidFill>
              </a:defRPr>
            </a:pPr>
            <a:r>
              <a:t>246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ORAL PRESENTATIONS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University of Groningen, Netherlands • Data Source: ConfTool Pro Export (adminPapersBrowse) •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EXECUTIVE DASHBOARD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Executive Overview: Core Submission Metrics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301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Total Submissions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100% processed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D9488"/>
                </a:solidFill>
              </a:defRPr>
            </a:pPr>
            <a:r>
              <a:t>66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Primary Countries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75 participating in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21224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D97706"/>
                </a:solidFill>
              </a:defRPr>
            </a:pPr>
            <a:r>
              <a:t>5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Core Themes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Sequential 1 to 5 tracks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97496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7C3AED"/>
                </a:solidFill>
              </a:defRPr>
            </a:pPr>
            <a:r>
              <a:t>25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Subtopics Covered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Extensive interdisciplinary range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73768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59669"/>
                </a:solidFill>
              </a:defRPr>
            </a:pPr>
            <a:r>
              <a:t>81.7%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Oral Presentations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246 individual talks requested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017520"/>
            <a:ext cx="73152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Geographic Breadth &amp; Inclusivity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Unprecedented Global Reach: </a:t>
            </a:r>
            <a:r>
              <a:rPr sz="900">
                <a:solidFill>
                  <a:srgbClr val="64748B"/>
                </a:solidFill>
              </a:rPr>
              <a:t>Submissions received from 66 primary countries across all 6 inhabited continents.</a:t>
            </a:r>
          </a:p>
          <a:p>
            <a:pPr>
              <a:spcBef>
                <a:spcPts val="600"/>
              </a:spcBef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Global South Leadership: </a:t>
            </a:r>
            <a:r>
              <a:rPr sz="900">
                <a:solidFill>
                  <a:srgbClr val="64748B"/>
                </a:solidFill>
              </a:rPr>
              <a:t>Over 58% of all abstracts originate from Asia and Africa, led by India, China, Indonesia, Nepal, Ghana, and South Africa.</a:t>
            </a:r>
          </a:p>
          <a:p>
            <a:pPr>
              <a:spcBef>
                <a:spcPts val="600"/>
              </a:spcBef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Strong European Anchor: </a:t>
            </a:r>
            <a:r>
              <a:rPr sz="900">
                <a:solidFill>
                  <a:srgbClr val="64748B"/>
                </a:solidFill>
              </a:rPr>
              <a:t>The host country Netherlands (26), Germany (20), UK (14), and Belgium (7) represent major scholarly leadership.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2544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5424" y="3017520"/>
            <a:ext cx="73152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2584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Sequential Thematic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1 (SDGs Beyond 2030): </a:t>
            </a:r>
            <a:r>
              <a:rPr sz="900">
                <a:solidFill>
                  <a:srgbClr val="64748B"/>
                </a:solidFill>
              </a:rPr>
              <a:t>60 abstracts (19.9%), focused heavily on SDG localization, multi-stakeholder governance, and post-2030 indicator systems.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2 (Resilience Across Systems): </a:t>
            </a:r>
            <a:r>
              <a:rPr sz="900">
                <a:solidFill>
                  <a:srgbClr val="64748B"/>
                </a:solidFill>
              </a:rPr>
              <a:t>76 abstracts (25.2%), the largest track in the conference, anchored by the Food-Water-Energy nexus and circular economy.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3 (Climate Nexus): </a:t>
            </a:r>
            <a:r>
              <a:rPr sz="900">
                <a:solidFill>
                  <a:srgbClr val="64748B"/>
                </a:solidFill>
              </a:rPr>
              <a:t>75 abstracts (24.9%), highlighting climate adaptation, governance, finance, and equitable net-zero transitions.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4 (Health) &amp; Theme 5 (AI): </a:t>
            </a:r>
            <a:r>
              <a:rPr sz="900">
                <a:solidFill>
                  <a:srgbClr val="64748B"/>
                </a:solidFill>
              </a:rPr>
              <a:t>45 abstracts each (15.0% each), providing human health foundations and digital enablement 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56448" y="3017520"/>
            <a:ext cx="73152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Session Architecture &amp; Planning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Massive Oral Demand: </a:t>
            </a:r>
            <a:r>
              <a:rPr sz="900">
                <a:solidFill>
                  <a:srgbClr val="64748B"/>
                </a:solidFill>
              </a:rPr>
              <a:t>246 abstracts (81.7%) request Oral Presentations, requiring robust multi-parallel track scheduling (4-5 concurrent tracks).</a:t>
            </a:r>
          </a:p>
          <a:p>
            <a:pPr>
              <a:spcBef>
                <a:spcPts val="6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Targeted Poster Track: </a:t>
            </a:r>
            <a:r>
              <a:rPr sz="900">
                <a:solidFill>
                  <a:srgbClr val="64748B"/>
                </a:solidFill>
              </a:rPr>
              <a:t>40 submissions (13.3%) designated for Poster Presentations across interactive exhibition areas.</a:t>
            </a:r>
          </a:p>
          <a:p>
            <a:pPr>
              <a:spcBef>
                <a:spcPts val="6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High-Impact Panels: </a:t>
            </a:r>
            <a:r>
              <a:rPr sz="900">
                <a:solidFill>
                  <a:srgbClr val="64748B"/>
                </a:solidFill>
              </a:rPr>
              <a:t>15 curated sessions (8 Innovative Sessions and 7 Full Panel Sessions) proposed by premier research networks and consortia.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GEOGRAPHIC REACH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Global Geographic Footprint: 66 Primary Submitting Nations</a:t>
            </a:r>
          </a:p>
        </p:txBody>
      </p:sp>
      <p:pic>
        <p:nvPicPr>
          <p:cNvPr id="4" name="Picture 3" descr="map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58952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371600"/>
            <a:ext cx="2926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554480"/>
            <a:ext cx="256032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Global Distribution Highlights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Host Nation Leading: </a:t>
            </a:r>
            <a:r>
              <a:rPr sz="950">
                <a:solidFill>
                  <a:srgbClr val="64748B"/>
                </a:solidFill>
              </a:rPr>
              <a:t>Netherlands leads with 26 submissions (43 including international co-authorships).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Global South Strength: </a:t>
            </a:r>
            <a:r>
              <a:rPr sz="950">
                <a:solidFill>
                  <a:srgbClr val="64748B"/>
                </a:solidFill>
              </a:rPr>
              <a:t>India (26), China (23), Indonesia (16), Nepal (15), Ghana (13), and South Africa (12) demonstrate high research activity.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Broad African Engagement: </a:t>
            </a:r>
            <a:r>
              <a:rPr sz="950">
                <a:solidFill>
                  <a:srgbClr val="64748B"/>
                </a:solidFill>
              </a:rPr>
              <a:t>15 African countries submitted abstracts, reflecting intense interest in climate resilience and just transitions.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Multi-Country Consortia: </a:t>
            </a:r>
            <a:r>
              <a:rPr sz="950">
                <a:solidFill>
                  <a:srgbClr val="64748B"/>
                </a:solidFill>
              </a:rPr>
              <a:t>Over 75 countries participate when including international co-authors and panel speakers.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Discrete HTML Map: </a:t>
            </a:r>
            <a:r>
              <a:rPr sz="950">
                <a:solidFill>
                  <a:srgbClr val="64748B"/>
                </a:solidFill>
              </a:rPr>
              <a:t>Interactive browser map includes discrete binned legends and dynamic theme filters.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758952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Distribution of 301 abstracts across 66 primary submitting countries. Natural Earth projection.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GEOGRAPHIC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Regional Breakdown &amp; Top Contributing Nations Leaderboard</a:t>
            </a:r>
          </a:p>
        </p:txBody>
      </p:sp>
      <p:pic>
        <p:nvPicPr>
          <p:cNvPr id="4" name="Picture 3" descr="chart_top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931920"/>
          </a:xfrm>
          <a:prstGeom prst="rect">
            <a:avLst/>
          </a:prstGeom>
        </p:spPr>
      </p:pic>
      <p:pic>
        <p:nvPicPr>
          <p:cNvPr id="5" name="Picture 4" descr="chart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029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Asia: 107 Submissions (35.5%)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India (26), China (23), Indonesia (16), Nepal (15), Bangladesh (7), Pakistan (7). Strong focus on agrarian adaptation, WEF nexus, and twin transition.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9704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Europe: 88 Submissions (29.2%)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Netherlands (26), Germany (20), UK (14), Belgium (7), Italy (5), Spain (4). Centered on post-2030 governance, circular economy modeling, and planetary boundaries.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0728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Africa: 69 Submissions (22.9%)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Ghana (13), South Africa (12), Nigeria (9), Morocco (6), Kenya (4). Critical focus on climate justice, Loss &amp; Damage, health equity, and rural resilience.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THEMATIC LANDSCAPE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Thematic Distribution: Across 5 Core Pillars (Theme 1 to 5)</a:t>
            </a:r>
          </a:p>
        </p:txBody>
      </p:sp>
      <p:pic>
        <p:nvPicPr>
          <p:cNvPr id="4" name="Picture 3" descr="chart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371600"/>
          <a:ext cx="50292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731520"/>
                <a:gridCol w="914400"/>
              </a:tblGrid>
              <a:tr h="655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Focus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Share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Lessons from SDGs Beyond 2030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19.9%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Building Resilience Across Systems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Climate Change–Development Nexus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24.9%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Health, Well-being &amp; Social Foundations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AI, Big Data &amp; Digitalization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KEY THEMATIC TAKEAWAYS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Themes 1 through 5 provide an integrated systemic continuum from post-2030 governance (Theme 1), natural-human resilience (Theme 2), and climate justice (Theme 3) to health equity (Theme 4) and digital enablers (Theme 5).</a:t>
            </a:r>
            <a:br/>
            <a:r>
              <a:t>• Themes 2 and 3 represent 50.1% of all submissions, highlighting immense research interest in resource resilience and climate 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PROGRAM SCHEDULING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Presentation Formats &amp; Session Architecture</a:t>
            </a:r>
          </a:p>
        </p:txBody>
      </p:sp>
      <p:pic>
        <p:nvPicPr>
          <p:cNvPr id="4" name="Picture 3" descr="cha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1481328"/>
            <a:ext cx="73152" cy="6949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444752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Oral Presentations • </a:t>
            </a:r>
            <a:r>
              <a:rPr sz="1000" b="1">
                <a:solidFill>
                  <a:srgbClr val="2563EB"/>
                </a:solidFill>
              </a:rPr>
              <a:t>246 Submissions (81.7%)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Requires approximately 40 to 45 standard oral sessions (5-6 papers per 90-minute session). Suggest scheduling across 4 parallel thematic tracks over 3 full conference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95728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505456"/>
            <a:ext cx="73152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Poster Presentations • </a:t>
            </a:r>
            <a:r>
              <a:rPr sz="1000" b="1">
                <a:solidFill>
                  <a:srgbClr val="059669"/>
                </a:solidFill>
              </a:rPr>
              <a:t>40 Submissions (13.3%)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Ideal for two dedicated interactive poster reception slots. Posters cluster around empirical fieldwork in Themes 1, 2, and 3, plus pilot models in AI and health analytics.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419856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3529584"/>
            <a:ext cx="73152" cy="6949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493008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Innovative Sessions • </a:t>
            </a:r>
            <a:r>
              <a:rPr sz="1000" b="1">
                <a:solidFill>
                  <a:srgbClr val="D97706"/>
                </a:solidFill>
              </a:rPr>
              <a:t>8 Submissions (2.7%)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Interactive workshops, co-design labs, and policy dialogues (e.g. decarbonization co-design, nature relationship index, participatory stakeholder modeling). High engagement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443984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4553712"/>
            <a:ext cx="73152" cy="6949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17136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Full Panel Sessions • </a:t>
            </a:r>
            <a:r>
              <a:rPr sz="1000" b="1">
                <a:solidFill>
                  <a:srgbClr val="7C3AED"/>
                </a:solidFill>
              </a:rPr>
              <a:t>7 Submissions (2.3%)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Curated multi-institutional expert panels (e.g. EU-China modeling consortium, water-energy-food governance, open data for SDG 6, regenerative supply chains). Prime plenary candidates.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PROGRAM COMMITTEE RECOMMENDATION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Designate 4 continuous parallel oral presentation streams (Stream A: Climate Nexus; Stream B: Integrated Resilience; Stream C: SDGs Beyond 2030; Stream D: Digital &amp; Health).</a:t>
            </a:r>
            <a:br/>
            <a:r>
              <a:t>• Schedule the 15 special panel and innovative sessions in non-overlapping 90-minute prime conference blocks to maximize cross-disciplinary attendance.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1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1 Deep-Dive: Lessons from SDGs for Sustainable Development Beyond 2030</a:t>
            </a:r>
          </a:p>
        </p:txBody>
      </p:sp>
      <p:pic>
        <p:nvPicPr>
          <p:cNvPr id="4" name="Picture 3" descr="wordcloud_them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Theme 1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Representation: </a:t>
            </a:r>
            <a:r>
              <a:rPr sz="800">
                <a:solidFill>
                  <a:srgbClr val="64748B"/>
                </a:solidFill>
              </a:rPr>
              <a:t>60 Submissions (19.9% of conference). 46 Oral, 11 Posters, 3 Innovative Sessions. Contributing countries led by Netherlands (9), India (5), UK (4), Nepal (3), Spain (3).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1.1 National &amp; Local SDG Implementation (25 papers, 41.7%): </a:t>
            </a:r>
            <a:r>
              <a:rPr sz="800">
                <a:solidFill>
                  <a:srgbClr val="64748B"/>
                </a:solidFill>
              </a:rPr>
              <a:t>The heaviest subtopic, analyzing institutional barriers, municipal Voluntary Local Reviews (VLRs), and grassroots community alignment.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1.5 Methods &amp; Processes for Post-2030 (11 papers, 18.3%): </a:t>
            </a:r>
            <a:r>
              <a:rPr sz="800">
                <a:solidFill>
                  <a:srgbClr val="64748B"/>
                </a:solidFill>
              </a:rPr>
              <a:t>Proposals for next-generation indicator frameworks, dynamic targets, and participatory foresight methodologies beyond the 2030 horizon.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1.2 SDG Governance &amp; Partnerships (9 papers, 15.0%): </a:t>
            </a:r>
            <a:r>
              <a:rPr sz="800">
                <a:solidFill>
                  <a:srgbClr val="64748B"/>
                </a:solidFill>
              </a:rPr>
              <a:t>Multi-stakeholder partnerships, public-private pacts, and accountability structures.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1.4 Missing Links &amp; Post-2030 Reforms (9 papers, 15.0%): </a:t>
            </a:r>
            <a:r>
              <a:rPr sz="800">
                <a:solidFill>
                  <a:srgbClr val="64748B"/>
                </a:solidFill>
              </a:rPr>
              <a:t>Critiques of current SDG gaps: planetary boundaries, indigenous sovereignty, and degrowth.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1.3 Integrated SDG Progress Assessment (6 papers, 10.0%): </a:t>
            </a:r>
            <a:r>
              <a:rPr sz="800">
                <a:solidFill>
                  <a:srgbClr val="64748B"/>
                </a:solidFill>
              </a:rPr>
              <a:t>Cross-goal trade-offs, spillover indices, and quantitative evaluation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THEME 1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development (152), sustainable (124), sustainability (91), environmental (61), local (59), institutional (55), sdgs (53), policy (51), goals (50), governance (49), implementation (47).</a:t>
            </a:r>
            <a:br/>
            <a:r>
              <a:t>• Key Author Keywords: sustainable development goals (11), sdgs (5), post-2030 agenda (5), sdg localization (4), sdg implementation (3), msmes (2).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2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2 Deep-Dive: Building Resilience across Natural &amp; Human Systems</a:t>
            </a:r>
          </a:p>
        </p:txBody>
      </p:sp>
      <p:pic>
        <p:nvPicPr>
          <p:cNvPr id="4" name="Picture 3" descr="wordcloud_them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Theme 2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Dominance: </a:t>
            </a:r>
            <a:r>
              <a:rPr sz="800">
                <a:solidFill>
                  <a:srgbClr val="64748B"/>
                </a:solidFill>
              </a:rPr>
              <a:t>76 Submissions (25.2% of entire conference) — the LARGEST single theme! 68 Oral, 3 Posters, 4 Panels, 1 Innovative Session. Top countries: China (12), Belgium (5), Nepal (5), India (5), Germany (5).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2.1 Food-Water-Energy Nexus (31 papers, 40.8%): </a:t>
            </a:r>
            <a:r>
              <a:rPr sz="800">
                <a:solidFill>
                  <a:srgbClr val="64748B"/>
                </a:solidFill>
              </a:rPr>
              <a:t>The largest single subtopic across the conference! Focuses on agricultural food systems, watershed governance, clean energy access, and resource interdependencies.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2.5 Beyond GDP &amp; Circularity (15 papers, 19.7%): </a:t>
            </a:r>
            <a:r>
              <a:rPr sz="800">
                <a:solidFill>
                  <a:srgbClr val="64748B"/>
                </a:solidFill>
              </a:rPr>
              <a:t>Circular economy models, regenerative supply chains, industrial symbiosis, and bioeconomy innovations.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2.3 Roles of Equity &amp; Justice (14 papers, 18.4%): </a:t>
            </a:r>
            <a:r>
              <a:rPr sz="800">
                <a:solidFill>
                  <a:srgbClr val="64748B"/>
                </a:solidFill>
              </a:rPr>
              <a:t>Environmental justice, indigenous land stewardship, social vulnerability, and community resilience.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2.2 Landscapes &amp; Seascapes (10 papers, 13.2%): </a:t>
            </a:r>
            <a:r>
              <a:rPr sz="800">
                <a:solidFill>
                  <a:srgbClr val="64748B"/>
                </a:solidFill>
              </a:rPr>
              <a:t>Ecosystem service valuations, coastal mangrove restoration, marine biodiversity conservation.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2.4 Urban Transformation &amp; Mobility (6 papers, 7.9%): </a:t>
            </a:r>
            <a:r>
              <a:rPr sz="800">
                <a:solidFill>
                  <a:srgbClr val="64748B"/>
                </a:solidFill>
              </a:rPr>
              <a:t>Low-carbon urban transit, resilient urban planning, and infrastructure retrofitting.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THEME 2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water (95), environmental (92), food (91), energy (89), sustainable (91), resilience (63), local (62), climate (61), circular (54), agricultural (52), ecosystem (49).</a:t>
            </a:r>
            <a:br/>
            <a:r>
              <a:t>• Key Author Keywords: community resilience (6), food system transformation (5), equity (4), social equity (4), sustainable resource management (4), business models (4), biodiversity (4).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3 SPOTLIGHT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3 Deep-Dive: Navigating the Climate Change–Development Nexus</a:t>
            </a:r>
          </a:p>
        </p:txBody>
      </p:sp>
      <p:pic>
        <p:nvPicPr>
          <p:cNvPr id="4" name="Picture 3" descr="chart_theme3_sub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371600"/>
            <a:ext cx="484632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508760"/>
            <a:ext cx="44805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7C3AED"/>
                </a:solidFill>
              </a:defRPr>
            </a:pPr>
            <a:r>
              <a:t>Theme 3 Structure &amp; Subtopics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Theme 3 captures the intersection of climate action and equitable human progress. 75 abstracts make it the 2nd largest track, covering 5 distinct subtopics: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3.2 Actions for Climate Adaptation (23 papers, 30.7%): </a:t>
            </a:r>
            <a:r>
              <a:rPr sz="850">
                <a:solidFill>
                  <a:srgbClr val="64748B"/>
                </a:solidFill>
              </a:rPr>
              <a:t>Focuses on building societal resilience, grassroots agricultural adaptations, and nature-based solutions.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3.5 Climate Governance &amp; Finance (22 papers, 29.3%): </a:t>
            </a:r>
            <a:r>
              <a:rPr sz="850">
                <a:solidFill>
                  <a:srgbClr val="64748B"/>
                </a:solidFill>
              </a:rPr>
              <a:t>Examines international negotiations, carbon pricing, Article 6, Loss &amp; Damage funds, and multi-level climate policies.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3.3 Mitigation &amp; Net-Zero Pathways (16 papers, 21.3%): </a:t>
            </a:r>
            <a:r>
              <a:rPr sz="850">
                <a:solidFill>
                  <a:srgbClr val="64748B"/>
                </a:solidFill>
              </a:rPr>
              <a:t>Explores renewable transitions, industrial decarbonization, and socially just phase-out of fossil fuels.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3.4 Climate Actions for Human Security (9 papers, 12.0%): </a:t>
            </a:r>
            <a:r>
              <a:rPr sz="850">
                <a:solidFill>
                  <a:srgbClr val="64748B"/>
                </a:solidFill>
              </a:rPr>
              <a:t>Addresses climate migration, conflict vulnerabilities, displacement, and livelihood security.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3.1 Earth System Modeling &amp; Impacts (5 papers, 6.7%): </a:t>
            </a:r>
            <a:r>
              <a:rPr sz="850">
                <a:solidFill>
                  <a:srgbClr val="64748B"/>
                </a:solidFill>
              </a:rPr>
              <a:t>Quantitative climate forecasting, tipping point analytics, and localized socio-ecological impact simulations.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75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Submissions (24.9%)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28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Contributing Nations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57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Oral Presentations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6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13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Poster Presentations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5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Special Sessions (3 Inn, 2 Pan)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3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3 Global Geography &amp; Abstract Word Cluster</a:t>
            </a:r>
          </a:p>
        </p:txBody>
      </p:sp>
      <p:pic>
        <p:nvPicPr>
          <p:cNvPr id="4" name="Picture 3" descr="map_them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931920"/>
          </a:xfrm>
          <a:prstGeom prst="rect">
            <a:avLst/>
          </a:prstGeom>
        </p:spPr>
      </p:pic>
      <p:pic>
        <p:nvPicPr>
          <p:cNvPr id="5" name="Picture 4" descr="wordcloud_them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484632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THEME 3 GEOGRAPHIC &amp; LEXICAL SUMMARY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Contributing Nations (28 total): India (9), Netherlands (7), Germany (7), Nepal (5), United Kingdom (5), Bangladesh (5), South Africa (5), Nigeria (3), Ghana (3), USA (3), China (3).</a:t>
            </a:r>
            <a:br/>
            <a:r>
              <a:t>• Top Abstract Words: climate (219), development (102), policy (65), sustainable (64), adaptation (57), governance (48), resilience (45), just transition (5), climate justice (4).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4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4 Deep-Dive: Health, Well-being, and Societal Foundations</a:t>
            </a:r>
          </a:p>
        </p:txBody>
      </p:sp>
      <p:pic>
        <p:nvPicPr>
          <p:cNvPr id="4" name="Picture 3" descr="wordcloud_them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Theme 4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Geographic Diversity: </a:t>
            </a:r>
            <a:r>
              <a:rPr sz="800">
                <a:solidFill>
                  <a:srgbClr val="64748B"/>
                </a:solidFill>
              </a:rPr>
              <a:t>45 Submissions (15.0% of conference). 39 Oral, 6 Posters. High participation from Global South: India (6), Ghana (6), Indonesia (5), Nigeria (5), Germany (3).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4.4 Health Equity &amp; Societal Outcomes (21 papers, 46.7%): </a:t>
            </a:r>
            <a:r>
              <a:rPr sz="800">
                <a:solidFill>
                  <a:srgbClr val="64748B"/>
                </a:solidFill>
              </a:rPr>
              <a:t>The core anchor of Theme 4! Evaluates inner development, mental health, gender disparities, social determinants, and community well-being.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4.5 Health as Outcome &amp; Driver of Sustainability (9 papers, 20.0%): </a:t>
            </a:r>
            <a:r>
              <a:rPr sz="800">
                <a:solidFill>
                  <a:srgbClr val="64748B"/>
                </a:solidFill>
              </a:rPr>
              <a:t>Economic productivity linkages, universal health coverage (UHC), and social foundation resilience.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4.3 Solutions &amp; Innovations for Healthier Societies (8 papers, 17.8%): </a:t>
            </a:r>
            <a:r>
              <a:rPr sz="800">
                <a:solidFill>
                  <a:srgbClr val="64748B"/>
                </a:solidFill>
              </a:rPr>
              <a:t>Community-based healthcare interventions, digital health tools, and indigenous medical practices.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4.2 Environmental Health &amp; Exposure Science (5 papers, 11.1%): </a:t>
            </a:r>
            <a:r>
              <a:rPr sz="800">
                <a:solidFill>
                  <a:srgbClr val="64748B"/>
                </a:solidFill>
              </a:rPr>
              <a:t>Air pollution exposure (e.g. Max Planck Mainz particulate analysis), microplastics, chemical toxins.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4.1 One Health Nexus &amp; Ecological Ceilings (2 papers, 4.4%): </a:t>
            </a:r>
            <a:r>
              <a:rPr sz="800">
                <a:solidFill>
                  <a:srgbClr val="64748B"/>
                </a:solidFill>
              </a:rPr>
              <a:t>Zoonotic disease emergence, animal-human-ecosystem health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THEME 4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health (133), well-being (47), social (41), environmental (39), climate (36), urban (34), exposure (27), access (26), healthcare (25), community (24), mental (21).</a:t>
            </a:r>
            <a:br/>
            <a:r>
              <a:t>• Key Author Keywords: sustainable development (3), well-being (3), climate change (3), nigeria (3), air pollution (2), india (2), child health (2), sdg 3 (2).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5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5 Deep-Dive: AI, Big Data &amp; Digitalization as Enablers</a:t>
            </a:r>
          </a:p>
        </p:txBody>
      </p:sp>
      <p:pic>
        <p:nvPicPr>
          <p:cNvPr id="4" name="Picture 3" descr="wordcloud_them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Theme 5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Frontier Scope: </a:t>
            </a:r>
            <a:r>
              <a:rPr sz="800">
                <a:solidFill>
                  <a:srgbClr val="64748B"/>
                </a:solidFill>
              </a:rPr>
              <a:t>45 Submissions (15.0% of conference). 36 Oral, 7 Posters, 1 Panel, 1 Innovative Session. Top contributing nations: Netherlands (5), Germany (4), Kenya (4), Indonesia (3), China (3).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5.5 AI &amp; Digitalization by/beyond 2030 (21 papers, 46.7%): </a:t>
            </a:r>
            <a:r>
              <a:rPr sz="800">
                <a:solidFill>
                  <a:srgbClr val="64748B"/>
                </a:solidFill>
              </a:rPr>
              <a:t>The flagship subtopic exploring macro-level digital transformation, sustainable smart cities, and AI in SDG achievement.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5.2 Twin Transition (Green + Digital) (9 papers, 20.0%): </a:t>
            </a:r>
            <a:r>
              <a:rPr sz="800">
                <a:solidFill>
                  <a:srgbClr val="64748B"/>
                </a:solidFill>
              </a:rPr>
              <a:t>Investigating how digitalization and green transition intersect, rebound effects, and energy consumption of data infrastructure.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5.1 AI Methods &amp; Analytics (6 papers, 13.3%): </a:t>
            </a:r>
            <a:r>
              <a:rPr sz="800">
                <a:solidFill>
                  <a:srgbClr val="64748B"/>
                </a:solidFill>
              </a:rPr>
              <a:t>Machine learning algorithms, remote sensing earth observation, and satellite data analytics for ecological monitoring.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5.4 Trustworthy AI &amp; Governance (5 papers, 11.1%): </a:t>
            </a:r>
            <a:r>
              <a:rPr sz="800">
                <a:solidFill>
                  <a:srgbClr val="64748B"/>
                </a:solidFill>
              </a:rPr>
              <a:t>Algorithmic bias in sustainability policy, digital public goods, data sovereignty, and ethical AI safeguards.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5.3 AI Tools for Decision-Making (4 papers, 8.9%): </a:t>
            </a:r>
            <a:r>
              <a:rPr sz="800">
                <a:solidFill>
                  <a:srgbClr val="64748B"/>
                </a:solidFill>
              </a:rPr>
              <a:t>Decision-support systems for municipal resource allocation and disaster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THEME 5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digital (94), development (74), sustainable (67), governance (47), systems (41), climate (40), intelligence (33), analytics (31), technologies (30), earth observation (24).</a:t>
            </a:r>
            <a:br/>
            <a:r>
              <a:t>• Key Author Keywords: artificial intelligence (9), sustainable development (6), digitalization (5), big data (4), responsible innovation (4), data governance (3).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CROSS-CUTTING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Cross-Thematic Synergies &amp; Thematic Intersection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14400"/>
                <a:gridCol w="1005840"/>
                <a:gridCol w="246888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Countries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Top Subtopic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Dominant Word 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Cross-Theme Synergy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1 (SDGs)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60 (19.9%)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1.1 SDG Local Implementation (25)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development, institutional, localization, governance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Feeds governance frameworks into Themes 2 &amp;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2 (Resilience)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76 (25.2%)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2.1 Food-Water-Energy Nexus (31)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water, food, energy, circular, biodiversity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Supplies ecological baselines for Health (T4) &amp; Climate (T3)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3 (Climate)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75 (24.9%)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3.2 Climate Adaptation (23)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climate, adaptation, policy, just transition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Intersects with AI analytics (T5) &amp; Human Security (T4)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4 (Health)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45 (15.0%)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4.4 Health Equity &amp; Well-being (21)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health, well-being, exposure, urban,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Bridges pollution data with climate extreme impacts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5 (AI/Digital)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45 (15.0%)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5.5 AI by/beyond 2030 (21)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digital, intelligence, systems, twin transition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Enables data monitoring across ALL themes (1, 2, 3, 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846320"/>
            <a:ext cx="106984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56048"/>
            <a:ext cx="103327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STRATEGIC CROSS-THEMATIC CONVERGENCES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The 'Twin Transition' Interface: </a:t>
            </a:r>
            <a:r>
              <a:rPr sz="850">
                <a:solidFill>
                  <a:srgbClr val="64748B"/>
                </a:solidFill>
              </a:rPr>
              <a:t>Strong natural convergence between Theme 3 (Climate mitigation) and Theme 5 (AI &amp; big data), specifically in digital carbon accounting, satellite earth observation, and smart grid optimization.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The Ecological Health Nexus: </a:t>
            </a:r>
            <a:r>
              <a:rPr sz="850">
                <a:solidFill>
                  <a:srgbClr val="64748B"/>
                </a:solidFill>
              </a:rPr>
              <a:t>Theme 2 (Water/Food) and Theme 4 (Health) share critical empirical ground regarding agricultural pesticides, clean water access, and urban microclimates.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Justice &amp; Just Transition as the Universal Thread: </a:t>
            </a:r>
            <a:r>
              <a:rPr sz="850">
                <a:solidFill>
                  <a:srgbClr val="64748B"/>
                </a:solidFill>
              </a:rPr>
              <a:t>Social equity is prominently featured in Theme 1 (indigenous voices), Theme 2 (fair resource allocation), and Theme 3 (just transition in coal/fossil regions).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PROGRAM RECOMMENDATIONS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Actionable Conference Planning &amp; Track Allocation Guidance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554480"/>
            <a:ext cx="73152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Track Allocation &amp; Parallel Rooms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Establish 4 Dedicated Parallel Streams: </a:t>
            </a:r>
            <a:r>
              <a:rPr sz="950">
                <a:solidFill>
                  <a:srgbClr val="64748B"/>
                </a:solidFill>
              </a:rPr>
              <a:t>Stream A (Climate Nexus), Stream B (Natural-Human Systems), Stream C (SDGs &amp; Governance), Stream D (AI &amp; Health).</a:t>
            </a:r>
          </a:p>
          <a:p>
            <a:pPr>
              <a:spcBef>
                <a:spcPts val="10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Room Sizing by Volume: </a:t>
            </a:r>
            <a:r>
              <a:rPr sz="950">
                <a:solidFill>
                  <a:srgbClr val="64748B"/>
                </a:solidFill>
              </a:rPr>
              <a:t>Allocate the largest auditorium facilities to Theme 2 (76 papers) and Theme 3 (75 papers) which will draw peak delegate interest.</a:t>
            </a:r>
          </a:p>
          <a:p>
            <a:pPr>
              <a:spcBef>
                <a:spcPts val="10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Session Granularity: </a:t>
            </a:r>
            <a:r>
              <a:rPr sz="950">
                <a:solidFill>
                  <a:srgbClr val="64748B"/>
                </a:solidFill>
              </a:rPr>
              <a:t>Plan approximately 45 oral sessions with 5-6 papers each (15 min presentation + Q&amp;A).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35424" y="1554480"/>
            <a:ext cx="73152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4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Poster Sessions &amp; Exhibition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Thematic Clustering of 40 Posters: </a:t>
            </a:r>
            <a:r>
              <a:rPr sz="950">
                <a:solidFill>
                  <a:srgbClr val="64748B"/>
                </a:solidFill>
              </a:rPr>
              <a:t>Cluster posters into 4 thematic islands matching the main conference pillars.</a:t>
            </a:r>
          </a:p>
          <a:p>
            <a:pPr>
              <a:spcBef>
                <a:spcPts val="100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Two Dedicated Unopposed Poster Slots: </a:t>
            </a:r>
            <a:r>
              <a:rPr sz="950">
                <a:solidFill>
                  <a:srgbClr val="64748B"/>
                </a:solidFill>
              </a:rPr>
              <a:t>Schedule two 60-minute reception slots (e.g., late afternoon Day 1 and Day 2) with refreshments to guarantee high delegate interaction.</a:t>
            </a:r>
          </a:p>
          <a:p>
            <a:pPr>
              <a:spcBef>
                <a:spcPts val="100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Rapid Poster Pitch Competition: </a:t>
            </a:r>
            <a:r>
              <a:rPr sz="950">
                <a:solidFill>
                  <a:srgbClr val="64748B"/>
                </a:solidFill>
              </a:rPr>
              <a:t>Provide 60-second lightning pitches for early-career scholars prior to the poster session.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56448" y="1554480"/>
            <a:ext cx="7315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Curated Panels &amp; Interactive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Elevate 15 Special Sessions: </a:t>
            </a:r>
            <a:r>
              <a:rPr sz="950">
                <a:solidFill>
                  <a:srgbClr val="64748B"/>
                </a:solidFill>
              </a:rPr>
              <a:t>The 7 Full Panels and 8 Innovative Sessions involve multi-institutional consortia (e.g. EU-China, SDSN, Jagiellonian, CAS, Max Planck).</a:t>
            </a:r>
          </a:p>
          <a:p>
            <a:pPr>
              <a:spcBef>
                <a:spcPts val="10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Semi-Plenary Positioning: </a:t>
            </a:r>
            <a:r>
              <a:rPr sz="950">
                <a:solidFill>
                  <a:srgbClr val="64748B"/>
                </a:solidFill>
              </a:rPr>
              <a:t>Schedule panels in prominent mid-morning slots to anchor plenary debates and foster cross-theme dialogue.</a:t>
            </a:r>
          </a:p>
          <a:p>
            <a:pPr>
              <a:spcBef>
                <a:spcPts val="10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Workshop Co-Design Rooms: </a:t>
            </a:r>
            <a:r>
              <a:rPr sz="950">
                <a:solidFill>
                  <a:srgbClr val="64748B"/>
                </a:solidFill>
              </a:rPr>
              <a:t>Equip innovative session rooms with flexible round-table seating rather than standard theater style.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CONCLUSION &amp; RESOURCES</a:t>
            </a:r>
          </a:p>
          <a:p>
            <a:pPr>
              <a:spcBef>
                <a:spcPts val="300"/>
              </a:spcBef>
              <a:defRPr sz="2100" b="1">
                <a:solidFill>
                  <a:srgbClr val="FFFFFF"/>
                </a:solidFill>
              </a:defRPr>
            </a:pPr>
            <a:r>
              <a:t>Analytical Package &amp; Deliverables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508760"/>
            <a:ext cx="73152" cy="7315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81328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PowerPoint Report (PPTX) — </a:t>
            </a:r>
            <a:r>
              <a:rPr sz="1100" b="1">
                <a:solidFill>
                  <a:srgbClr val="38BDF8"/>
                </a:solidFill>
              </a:rPr>
              <a:t>GSC2027_Abstract_Submissions_Analysis_Report.pptx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15 comprehensive widescreen slides featuring discrete maps, sequential thematic deep-dives (Themes 1 to 5), and scheduling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42032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79192"/>
            <a:ext cx="73152" cy="73152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Interactive World Map Dashboard (HTML) — </a:t>
            </a:r>
            <a:r>
              <a:rPr sz="1100" b="1">
                <a:solidFill>
                  <a:srgbClr val="818CF8"/>
                </a:solidFill>
              </a:rPr>
              <a:t>gsc2027_interactive_world_map.html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Clean white academic dashboard with discrete binned map tiers, dynamic theme selector (Strict 1 to 5), pie charts, word clusters, and sortable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12464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849624"/>
            <a:ext cx="7315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2192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Master Submissions Database (Excel &amp; CSV) — </a:t>
            </a:r>
            <a:r>
              <a:rPr sz="1100" b="1">
                <a:solidFill>
                  <a:srgbClr val="34D399"/>
                </a:solidFill>
              </a:rPr>
              <a:t>GSC2027_Abstract_Submissions_Master.xlsx / .csv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Complete cleaned dataset of all 301 abstracts with ID, title, author lists, organizations, verified country, subtopic codes, keywords, and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82896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5020056"/>
            <a:ext cx="73152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High-Res Visual Assets Suite — </a:t>
            </a:r>
            <a:r>
              <a:rPr sz="1100" b="1">
                <a:solidFill>
                  <a:srgbClr val="FBBF24"/>
                </a:solidFill>
              </a:rPr>
              <a:t>visuals/ directory (13 High-DPI Assets)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Includes global and Theme 3 choropleth maps, theme distribution charts, subtopic bars, format breakdowns, and 6 specialized NLP word clouds.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Groningen Sustainability Conference 2027 (GSC 2027) • University of Groningen, Netherlands • Scientific Advisory &amp; Analytics Desk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